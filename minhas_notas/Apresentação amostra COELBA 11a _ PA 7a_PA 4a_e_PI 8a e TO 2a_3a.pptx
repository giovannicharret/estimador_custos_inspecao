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notesMasterIdLst>
    <p:notesMasterId r:id="rId17"/>
  </p:notesMasterIdLst>
  <p:sldIdLst>
    <p:sldId id="256" r:id="rId5"/>
    <p:sldId id="261" r:id="rId6"/>
    <p:sldId id="371" r:id="rId7"/>
    <p:sldId id="367" r:id="rId8"/>
    <p:sldId id="368" r:id="rId9"/>
    <p:sldId id="369" r:id="rId10"/>
    <p:sldId id="372" r:id="rId11"/>
    <p:sldId id="373" r:id="rId12"/>
    <p:sldId id="374" r:id="rId13"/>
    <p:sldId id="375" r:id="rId14"/>
    <p:sldId id="376" r:id="rId15"/>
    <p:sldId id="377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AD3E73-EC13-BEC7-B47D-54ECDF319B89}" name="Artur Araujo Rodrigues" initials="AR" userId="S::artur.rodrigues@enbpar.gov.br::6e279ea7-699b-499d-98d6-d09912d4e92b" providerId="AD"/>
  <p188:author id="{2B9258A6-C674-2AF7-EBBA-D0430CBCB732}" name="Thalisson Gloria de Almeida" initials="TG" userId="S::thalisson.almeida@enbpar.gov.br::6c1ffc86-6e54-4c7d-8fa5-569b29abe065" providerId="AD"/>
  <p188:author id="{9160E0F2-78FD-791F-01B3-490C40D7AA2F}" name="Aurelio Pavão de Farias" initials="AF" userId="S::aurelio.farias@enbpar.gov.br::433bec2b-a3c3-4e95-8047-59a06359902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0000"/>
    <a:srgbClr val="84AEDC"/>
    <a:srgbClr val="4679A7"/>
    <a:srgbClr val="5591C7"/>
    <a:srgbClr val="B8CDE8"/>
    <a:srgbClr val="858585"/>
    <a:srgbClr val="0089DA"/>
    <a:srgbClr val="2F5597"/>
    <a:srgbClr val="183EFF"/>
    <a:srgbClr val="DD23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972" y="-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s dos Santos Brito" userId="d5f3daec-481c-4d8f-bfb0-fad6288b8e74" providerId="ADAL" clId="{14AAF4B0-4ECD-43FE-9F4B-EC96C80C1001}"/>
    <pc:docChg chg="undo custSel addSld modSld sldOrd">
      <pc:chgData name="Lais dos Santos Brito" userId="d5f3daec-481c-4d8f-bfb0-fad6288b8e74" providerId="ADAL" clId="{14AAF4B0-4ECD-43FE-9F4B-EC96C80C1001}" dt="2026-05-13T20:41:00.543" v="97"/>
      <pc:docMkLst>
        <pc:docMk/>
      </pc:docMkLst>
      <pc:sldChg chg="modSp mod">
        <pc:chgData name="Lais dos Santos Brito" userId="d5f3daec-481c-4d8f-bfb0-fad6288b8e74" providerId="ADAL" clId="{14AAF4B0-4ECD-43FE-9F4B-EC96C80C1001}" dt="2026-05-13T20:39:55.169" v="93" actId="2710"/>
        <pc:sldMkLst>
          <pc:docMk/>
          <pc:sldMk cId="0" sldId="256"/>
        </pc:sldMkLst>
        <pc:spChg chg="mod">
          <ac:chgData name="Lais dos Santos Brito" userId="d5f3daec-481c-4d8f-bfb0-fad6288b8e74" providerId="ADAL" clId="{14AAF4B0-4ECD-43FE-9F4B-EC96C80C1001}" dt="2026-05-13T20:39:55.169" v="93" actId="2710"/>
          <ac:spMkLst>
            <pc:docMk/>
            <pc:sldMk cId="0" sldId="256"/>
            <ac:spMk id="2" creationId="{D4FB4108-11AB-109F-DBE2-D4EE34FD325D}"/>
          </ac:spMkLst>
        </pc:spChg>
      </pc:sldChg>
      <pc:sldChg chg="ord">
        <pc:chgData name="Lais dos Santos Brito" userId="d5f3daec-481c-4d8f-bfb0-fad6288b8e74" providerId="ADAL" clId="{14AAF4B0-4ECD-43FE-9F4B-EC96C80C1001}" dt="2026-05-13T20:40:54.717" v="96"/>
        <pc:sldMkLst>
          <pc:docMk/>
          <pc:sldMk cId="1434782339" sldId="375"/>
        </pc:sldMkLst>
      </pc:sldChg>
      <pc:sldChg chg="add">
        <pc:chgData name="Lais dos Santos Brito" userId="d5f3daec-481c-4d8f-bfb0-fad6288b8e74" providerId="ADAL" clId="{14AAF4B0-4ECD-43FE-9F4B-EC96C80C1001}" dt="2026-05-13T20:40:52.805" v="94"/>
        <pc:sldMkLst>
          <pc:docMk/>
          <pc:sldMk cId="4049547958" sldId="376"/>
        </pc:sldMkLst>
      </pc:sldChg>
      <pc:sldChg chg="add">
        <pc:chgData name="Lais dos Santos Brito" userId="d5f3daec-481c-4d8f-bfb0-fad6288b8e74" providerId="ADAL" clId="{14AAF4B0-4ECD-43FE-9F4B-EC96C80C1001}" dt="2026-05-13T20:41:00.543" v="97"/>
        <pc:sldMkLst>
          <pc:docMk/>
          <pc:sldMk cId="1980087014" sldId="377"/>
        </pc:sldMkLst>
      </pc:sldChg>
    </pc:docChg>
  </pc:docChgLst>
  <pc:docChgLst>
    <pc:chgData name="Lucimar Oliveira de Castro" userId="3ea0693b-df1e-4cee-a611-3d357a4103c3" providerId="ADAL" clId="{1ABE540D-2141-4D0A-B69F-A609BC25FBE4}"/>
    <pc:docChg chg="modSld">
      <pc:chgData name="Lucimar Oliveira de Castro" userId="3ea0693b-df1e-4cee-a611-3d357a4103c3" providerId="ADAL" clId="{1ABE540D-2141-4D0A-B69F-A609BC25FBE4}" dt="2026-06-02T14:52:20.901" v="1" actId="1076"/>
      <pc:docMkLst>
        <pc:docMk/>
      </pc:docMkLst>
      <pc:sldChg chg="modSp mod">
        <pc:chgData name="Lucimar Oliveira de Castro" userId="3ea0693b-df1e-4cee-a611-3d357a4103c3" providerId="ADAL" clId="{1ABE540D-2141-4D0A-B69F-A609BC25FBE4}" dt="2026-06-02T14:52:20.901" v="1" actId="1076"/>
        <pc:sldMkLst>
          <pc:docMk/>
          <pc:sldMk cId="1980087014" sldId="377"/>
        </pc:sldMkLst>
        <pc:spChg chg="mod">
          <ac:chgData name="Lucimar Oliveira de Castro" userId="3ea0693b-df1e-4cee-a611-3d357a4103c3" providerId="ADAL" clId="{1ABE540D-2141-4D0A-B69F-A609BC25FBE4}" dt="2026-06-02T14:52:20.901" v="1" actId="1076"/>
          <ac:spMkLst>
            <pc:docMk/>
            <pc:sldMk cId="1980087014" sldId="377"/>
            <ac:spMk id="6" creationId="{798BACC5-8359-4EA1-8BF3-BD94DCC25E6C}"/>
          </ac:spMkLst>
        </pc:spChg>
        <pc:picChg chg="mod">
          <ac:chgData name="Lucimar Oliveira de Castro" userId="3ea0693b-df1e-4cee-a611-3d357a4103c3" providerId="ADAL" clId="{1ABE540D-2141-4D0A-B69F-A609BC25FBE4}" dt="2026-06-02T14:52:16.606" v="0" actId="14100"/>
          <ac:picMkLst>
            <pc:docMk/>
            <pc:sldMk cId="1980087014" sldId="377"/>
            <ac:picMk id="11" creationId="{8EAEE0BA-8B46-3A1A-2B6F-81ADA28E0FF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BC687-D0D1-4A49-A9C0-5DCF4ECB8C86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1AA71-0ED5-4B89-8DB0-75FF1AF021B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136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p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8cc7b9663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cc7b96639_0_3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>
          <a:extLst>
            <a:ext uri="{FF2B5EF4-FFF2-40B4-BE49-F238E27FC236}">
              <a16:creationId xmlns:a16="http://schemas.microsoft.com/office/drawing/2014/main" id="{261A2CD9-61EE-5612-4D93-D51856731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8cc7b96639_0_31:notes">
            <a:extLst>
              <a:ext uri="{FF2B5EF4-FFF2-40B4-BE49-F238E27FC236}">
                <a16:creationId xmlns:a16="http://schemas.microsoft.com/office/drawing/2014/main" id="{0A847CF1-83EA-2D29-7017-B62A5C6DFB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cc7b96639_0_31:notes">
            <a:extLst>
              <a:ext uri="{FF2B5EF4-FFF2-40B4-BE49-F238E27FC236}">
                <a16:creationId xmlns:a16="http://schemas.microsoft.com/office/drawing/2014/main" id="{BCF087BF-02E5-A5AC-2DA8-591F870E67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6523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>
          <a:extLst>
            <a:ext uri="{FF2B5EF4-FFF2-40B4-BE49-F238E27FC236}">
              <a16:creationId xmlns:a16="http://schemas.microsoft.com/office/drawing/2014/main" id="{883A9457-DD81-48EE-BA01-536653F73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8cc7b96639_0_31:notes">
            <a:extLst>
              <a:ext uri="{FF2B5EF4-FFF2-40B4-BE49-F238E27FC236}">
                <a16:creationId xmlns:a16="http://schemas.microsoft.com/office/drawing/2014/main" id="{498D99A2-2C65-FF2E-326A-B0F1B3BE8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cc7b96639_0_31:notes">
            <a:extLst>
              <a:ext uri="{FF2B5EF4-FFF2-40B4-BE49-F238E27FC236}">
                <a16:creationId xmlns:a16="http://schemas.microsoft.com/office/drawing/2014/main" id="{022858EE-0EFB-2B63-B3A1-7BB3E924FC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386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>
          <a:extLst>
            <a:ext uri="{FF2B5EF4-FFF2-40B4-BE49-F238E27FC236}">
              <a16:creationId xmlns:a16="http://schemas.microsoft.com/office/drawing/2014/main" id="{A899A343-9256-945C-16AB-285D65C52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8cc7b96639_0_31:notes">
            <a:extLst>
              <a:ext uri="{FF2B5EF4-FFF2-40B4-BE49-F238E27FC236}">
                <a16:creationId xmlns:a16="http://schemas.microsoft.com/office/drawing/2014/main" id="{32F56BBF-9CD7-7B90-7B1F-E8DC6F3BC8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cc7b96639_0_31:notes">
            <a:extLst>
              <a:ext uri="{FF2B5EF4-FFF2-40B4-BE49-F238E27FC236}">
                <a16:creationId xmlns:a16="http://schemas.microsoft.com/office/drawing/2014/main" id="{84981DDB-8C1B-FAC5-837A-3A34A6706B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8488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>
          <a:extLst>
            <a:ext uri="{FF2B5EF4-FFF2-40B4-BE49-F238E27FC236}">
              <a16:creationId xmlns:a16="http://schemas.microsoft.com/office/drawing/2014/main" id="{B1EC531E-132C-1DAA-4336-30C0FA648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8cc7b96639_0_31:notes">
            <a:extLst>
              <a:ext uri="{FF2B5EF4-FFF2-40B4-BE49-F238E27FC236}">
                <a16:creationId xmlns:a16="http://schemas.microsoft.com/office/drawing/2014/main" id="{1F956773-F277-383D-ABE3-638784B40A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cc7b96639_0_31:notes">
            <a:extLst>
              <a:ext uri="{FF2B5EF4-FFF2-40B4-BE49-F238E27FC236}">
                <a16:creationId xmlns:a16="http://schemas.microsoft.com/office/drawing/2014/main" id="{825CA45D-A6B0-F773-5E49-E297326475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0681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8cc7b9663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cc7b96639_0_3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>
          <a:extLst>
            <a:ext uri="{FF2B5EF4-FFF2-40B4-BE49-F238E27FC236}">
              <a16:creationId xmlns:a16="http://schemas.microsoft.com/office/drawing/2014/main" id="{883A9457-DD81-48EE-BA01-536653F73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8cc7b96639_0_31:notes">
            <a:extLst>
              <a:ext uri="{FF2B5EF4-FFF2-40B4-BE49-F238E27FC236}">
                <a16:creationId xmlns:a16="http://schemas.microsoft.com/office/drawing/2014/main" id="{498D99A2-2C65-FF2E-326A-B0F1B3BE8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cc7b96639_0_31:notes">
            <a:extLst>
              <a:ext uri="{FF2B5EF4-FFF2-40B4-BE49-F238E27FC236}">
                <a16:creationId xmlns:a16="http://schemas.microsoft.com/office/drawing/2014/main" id="{022858EE-0EFB-2B63-B3A1-7BB3E924FC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3865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8cc7b9663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cc7b96639_0_3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>
          <a:extLst>
            <a:ext uri="{FF2B5EF4-FFF2-40B4-BE49-F238E27FC236}">
              <a16:creationId xmlns:a16="http://schemas.microsoft.com/office/drawing/2014/main" id="{883A9457-DD81-48EE-BA01-536653F73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8cc7b96639_0_31:notes">
            <a:extLst>
              <a:ext uri="{FF2B5EF4-FFF2-40B4-BE49-F238E27FC236}">
                <a16:creationId xmlns:a16="http://schemas.microsoft.com/office/drawing/2014/main" id="{498D99A2-2C65-FF2E-326A-B0F1B3BE8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cc7b96639_0_31:notes">
            <a:extLst>
              <a:ext uri="{FF2B5EF4-FFF2-40B4-BE49-F238E27FC236}">
                <a16:creationId xmlns:a16="http://schemas.microsoft.com/office/drawing/2014/main" id="{022858EE-0EFB-2B63-B3A1-7BB3E924FC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3865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>
          <a:extLst>
            <a:ext uri="{FF2B5EF4-FFF2-40B4-BE49-F238E27FC236}">
              <a16:creationId xmlns:a16="http://schemas.microsoft.com/office/drawing/2014/main" id="{261A2CD9-61EE-5612-4D93-D51856731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8cc7b96639_0_31:notes">
            <a:extLst>
              <a:ext uri="{FF2B5EF4-FFF2-40B4-BE49-F238E27FC236}">
                <a16:creationId xmlns:a16="http://schemas.microsoft.com/office/drawing/2014/main" id="{0A847CF1-83EA-2D29-7017-B62A5C6DFB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cc7b96639_0_31:notes">
            <a:extLst>
              <a:ext uri="{FF2B5EF4-FFF2-40B4-BE49-F238E27FC236}">
                <a16:creationId xmlns:a16="http://schemas.microsoft.com/office/drawing/2014/main" id="{BCF087BF-02E5-A5AC-2DA8-591F870E67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6523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>
          <a:extLst>
            <a:ext uri="{FF2B5EF4-FFF2-40B4-BE49-F238E27FC236}">
              <a16:creationId xmlns:a16="http://schemas.microsoft.com/office/drawing/2014/main" id="{883A9457-DD81-48EE-BA01-536653F73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8cc7b96639_0_31:notes">
            <a:extLst>
              <a:ext uri="{FF2B5EF4-FFF2-40B4-BE49-F238E27FC236}">
                <a16:creationId xmlns:a16="http://schemas.microsoft.com/office/drawing/2014/main" id="{498D99A2-2C65-FF2E-326A-B0F1B3BE8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8cc7b96639_0_31:notes">
            <a:extLst>
              <a:ext uri="{FF2B5EF4-FFF2-40B4-BE49-F238E27FC236}">
                <a16:creationId xmlns:a16="http://schemas.microsoft.com/office/drawing/2014/main" id="{022858EE-0EFB-2B63-B3A1-7BB3E924FC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386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 descr="Padrão do plano de fundo&#10;&#10;Descrição gerada automaticamente">
            <a:extLst>
              <a:ext uri="{FF2B5EF4-FFF2-40B4-BE49-F238E27FC236}">
                <a16:creationId xmlns:a16="http://schemas.microsoft.com/office/drawing/2014/main" id="{A1C3829D-AF0B-E663-D422-EA7708E229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5831" y="0"/>
            <a:ext cx="12197264" cy="6858000"/>
          </a:xfrm>
          <a:prstGeom prst="rect">
            <a:avLst/>
          </a:prstGeom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077800" y="1992400"/>
            <a:ext cx="6036400" cy="22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077800" y="4272800"/>
            <a:ext cx="6036400" cy="5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grpSp>
        <p:nvGrpSpPr>
          <p:cNvPr id="935" name="Google Shape;935;p37"/>
          <p:cNvGrpSpPr/>
          <p:nvPr userDrawn="1"/>
        </p:nvGrpSpPr>
        <p:grpSpPr>
          <a:xfrm>
            <a:off x="7640212" y="5722696"/>
            <a:ext cx="4825909" cy="1310165"/>
            <a:chOff x="4986600" y="4014825"/>
            <a:chExt cx="4157400" cy="1128675"/>
          </a:xfrm>
        </p:grpSpPr>
        <p:sp>
          <p:nvSpPr>
            <p:cNvPr id="936" name="Google Shape;936;p37"/>
            <p:cNvSpPr/>
            <p:nvPr/>
          </p:nvSpPr>
          <p:spPr>
            <a:xfrm flipH="1">
              <a:off x="5715000" y="4014825"/>
              <a:ext cx="3429000" cy="1128600"/>
            </a:xfrm>
            <a:prstGeom prst="round1Rect">
              <a:avLst>
                <a:gd name="adj" fmla="val 50000"/>
              </a:avLst>
            </a:prstGeom>
            <a:solidFill>
              <a:srgbClr val="92D050">
                <a:alpha val="6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937" name="Google Shape;937;p37"/>
            <p:cNvSpPr/>
            <p:nvPr/>
          </p:nvSpPr>
          <p:spPr>
            <a:xfrm flipH="1">
              <a:off x="4986600" y="4527300"/>
              <a:ext cx="4157400" cy="616200"/>
            </a:xfrm>
            <a:prstGeom prst="round1Rect">
              <a:avLst>
                <a:gd name="adj" fmla="val 50000"/>
              </a:avLst>
            </a:prstGeom>
            <a:solidFill>
              <a:srgbClr val="0070C0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977" name="Google Shape;977;p37"/>
          <p:cNvSpPr/>
          <p:nvPr userDrawn="1"/>
        </p:nvSpPr>
        <p:spPr>
          <a:xfrm>
            <a:off x="10458833" y="1195300"/>
            <a:ext cx="2510000" cy="284000"/>
          </a:xfrm>
          <a:prstGeom prst="roundRect">
            <a:avLst>
              <a:gd name="adj" fmla="val 50000"/>
            </a:avLst>
          </a:prstGeom>
          <a:solidFill>
            <a:srgbClr val="92D050">
              <a:alpha val="500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" name="Google Shape;954;p37"/>
          <p:cNvSpPr/>
          <p:nvPr userDrawn="1"/>
        </p:nvSpPr>
        <p:spPr>
          <a:xfrm>
            <a:off x="0" y="4362800"/>
            <a:ext cx="1673600" cy="2495200"/>
          </a:xfrm>
          <a:prstGeom prst="rect">
            <a:avLst/>
          </a:prstGeom>
          <a:solidFill>
            <a:srgbClr val="0070C0">
              <a:alpha val="6899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" name="Google Shape;955;p37"/>
          <p:cNvSpPr/>
          <p:nvPr userDrawn="1"/>
        </p:nvSpPr>
        <p:spPr>
          <a:xfrm>
            <a:off x="0" y="6439633"/>
            <a:ext cx="3018000" cy="418400"/>
          </a:xfrm>
          <a:prstGeom prst="round1Rect">
            <a:avLst>
              <a:gd name="adj" fmla="val 50000"/>
            </a:avLst>
          </a:prstGeom>
          <a:solidFill>
            <a:srgbClr val="92D050">
              <a:alpha val="405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Maven Pro"/>
              <a:ea typeface="Maven Pro"/>
              <a:cs typeface="Maven Pro"/>
              <a:sym typeface="Maven Pro"/>
            </a:endParaRPr>
          </a:p>
        </p:txBody>
      </p:sp>
    </p:spTree>
    <p:extLst>
      <p:ext uri="{BB962C8B-B14F-4D97-AF65-F5344CB8AC3E}">
        <p14:creationId xmlns:p14="http://schemas.microsoft.com/office/powerpoint/2010/main" val="3370520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>
            <a:extLst>
              <a:ext uri="{FF2B5EF4-FFF2-40B4-BE49-F238E27FC236}">
                <a16:creationId xmlns:a16="http://schemas.microsoft.com/office/drawing/2014/main" id="{636019DF-98A5-CD9E-1758-2A89D9D6E86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133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 descr="Padrão do plano de fundo&#10;&#10;Descrição gerada automaticamente">
            <a:extLst>
              <a:ext uri="{FF2B5EF4-FFF2-40B4-BE49-F238E27FC236}">
                <a16:creationId xmlns:a16="http://schemas.microsoft.com/office/drawing/2014/main" id="{A022FFD0-9CA1-1161-CC22-40F0199B5E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6951" y="0"/>
            <a:ext cx="12197264" cy="6858000"/>
          </a:xfrm>
          <a:prstGeom prst="rect">
            <a:avLst/>
          </a:prstGeom>
        </p:spPr>
      </p:pic>
      <p:grpSp>
        <p:nvGrpSpPr>
          <p:cNvPr id="211" name="Google Shape;211;p9"/>
          <p:cNvGrpSpPr/>
          <p:nvPr/>
        </p:nvGrpSpPr>
        <p:grpSpPr>
          <a:xfrm>
            <a:off x="1" y="0"/>
            <a:ext cx="12483833" cy="6858000"/>
            <a:chOff x="0" y="0"/>
            <a:chExt cx="9362875" cy="5143500"/>
          </a:xfrm>
        </p:grpSpPr>
        <p:sp>
          <p:nvSpPr>
            <p:cNvPr id="212" name="Google Shape;212;p9"/>
            <p:cNvSpPr/>
            <p:nvPr/>
          </p:nvSpPr>
          <p:spPr>
            <a:xfrm>
              <a:off x="7925" y="0"/>
              <a:ext cx="722400" cy="1871400"/>
            </a:xfrm>
            <a:prstGeom prst="rect">
              <a:avLst/>
            </a:prstGeom>
            <a:solidFill>
              <a:srgbClr val="0070C0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13" name="Google Shape;213;p9"/>
            <p:cNvSpPr/>
            <p:nvPr/>
          </p:nvSpPr>
          <p:spPr>
            <a:xfrm rot="-5400000">
              <a:off x="7825525" y="3832950"/>
              <a:ext cx="1492500" cy="1128600"/>
            </a:xfrm>
            <a:prstGeom prst="round1Rect">
              <a:avLst>
                <a:gd name="adj" fmla="val 50000"/>
              </a:avLst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0" y="4829625"/>
              <a:ext cx="2215800" cy="313800"/>
            </a:xfrm>
            <a:prstGeom prst="round1Rect">
              <a:avLst>
                <a:gd name="adj" fmla="val 50000"/>
              </a:avLst>
            </a:prstGeom>
            <a:solidFill>
              <a:srgbClr val="92D050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7480375" y="4702475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0070C0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217" name="Google Shape;217;p9"/>
          <p:cNvSpPr txBox="1">
            <a:spLocks noGrp="1"/>
          </p:cNvSpPr>
          <p:nvPr>
            <p:ph type="title"/>
          </p:nvPr>
        </p:nvSpPr>
        <p:spPr>
          <a:xfrm>
            <a:off x="3107600" y="2291051"/>
            <a:ext cx="5976800" cy="98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18" name="Google Shape;218;p9"/>
          <p:cNvSpPr txBox="1">
            <a:spLocks noGrp="1"/>
          </p:cNvSpPr>
          <p:nvPr>
            <p:ph type="subTitle" idx="1"/>
          </p:nvPr>
        </p:nvSpPr>
        <p:spPr>
          <a:xfrm>
            <a:off x="3107600" y="3115352"/>
            <a:ext cx="5976800" cy="14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3512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>
            <a:extLst>
              <a:ext uri="{FF2B5EF4-FFF2-40B4-BE49-F238E27FC236}">
                <a16:creationId xmlns:a16="http://schemas.microsoft.com/office/drawing/2014/main" id="{FAA18937-ABF0-ACAC-2EB7-58E0D3CA9C7F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 descr="Padrão do plano de fundo&#10;&#10;Descrição gerada automaticamente">
            <a:extLst>
              <a:ext uri="{FF2B5EF4-FFF2-40B4-BE49-F238E27FC236}">
                <a16:creationId xmlns:a16="http://schemas.microsoft.com/office/drawing/2014/main" id="{73915EB4-365B-51C8-F811-F8599C2879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65" y="0"/>
            <a:ext cx="12197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>
            <a:extLst>
              <a:ext uri="{FF2B5EF4-FFF2-40B4-BE49-F238E27FC236}">
                <a16:creationId xmlns:a16="http://schemas.microsoft.com/office/drawing/2014/main" id="{075F181F-745B-4CC9-8E8B-8986C99BE09C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566" y="1"/>
            <a:ext cx="12170868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 descr="Padrão do plano de fundo&#10;&#10;Descrição gerada automaticamente">
            <a:extLst>
              <a:ext uri="{FF2B5EF4-FFF2-40B4-BE49-F238E27FC236}">
                <a16:creationId xmlns:a16="http://schemas.microsoft.com/office/drawing/2014/main" id="{B015E7BB-2514-824E-0EF4-21831CA52D7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5831" y="0"/>
            <a:ext cx="12197264" cy="6858000"/>
          </a:xfrm>
          <a:prstGeom prst="rect">
            <a:avLst/>
          </a:prstGeom>
        </p:spPr>
      </p:pic>
      <p:grpSp>
        <p:nvGrpSpPr>
          <p:cNvPr id="881" name="Google Shape;881;p33"/>
          <p:cNvGrpSpPr/>
          <p:nvPr/>
        </p:nvGrpSpPr>
        <p:grpSpPr>
          <a:xfrm>
            <a:off x="1" y="-33"/>
            <a:ext cx="12736100" cy="6857833"/>
            <a:chOff x="0" y="-25"/>
            <a:chExt cx="9552075" cy="5143375"/>
          </a:xfrm>
        </p:grpSpPr>
        <p:sp>
          <p:nvSpPr>
            <p:cNvPr id="882" name="Google Shape;882;p33"/>
            <p:cNvSpPr/>
            <p:nvPr/>
          </p:nvSpPr>
          <p:spPr>
            <a:xfrm>
              <a:off x="7924" y="0"/>
              <a:ext cx="722400" cy="2402100"/>
            </a:xfrm>
            <a:prstGeom prst="rect">
              <a:avLst/>
            </a:prstGeom>
            <a:solidFill>
              <a:srgbClr val="92D050">
                <a:alpha val="689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3" name="Google Shape;883;p33"/>
            <p:cNvSpPr/>
            <p:nvPr/>
          </p:nvSpPr>
          <p:spPr>
            <a:xfrm flipH="1">
              <a:off x="6943500" y="4306950"/>
              <a:ext cx="2200500" cy="836400"/>
            </a:xfrm>
            <a:prstGeom prst="round1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4" name="Google Shape;884;p33"/>
            <p:cNvSpPr/>
            <p:nvPr/>
          </p:nvSpPr>
          <p:spPr>
            <a:xfrm rot="10800000" flipH="1">
              <a:off x="0" y="-25"/>
              <a:ext cx="2263500" cy="842100"/>
            </a:xfrm>
            <a:prstGeom prst="round1Rect">
              <a:avLst>
                <a:gd name="adj" fmla="val 50000"/>
              </a:avLst>
            </a:prstGeom>
            <a:solidFill>
              <a:srgbClr val="92D050">
                <a:alpha val="40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sp>
          <p:nvSpPr>
            <p:cNvPr id="885" name="Google Shape;885;p33"/>
            <p:cNvSpPr/>
            <p:nvPr/>
          </p:nvSpPr>
          <p:spPr>
            <a:xfrm>
              <a:off x="7669575" y="4755450"/>
              <a:ext cx="1882500" cy="213000"/>
            </a:xfrm>
            <a:prstGeom prst="roundRect">
              <a:avLst>
                <a:gd name="adj" fmla="val 50000"/>
              </a:avLst>
            </a:prstGeom>
            <a:solidFill>
              <a:srgbClr val="516CEE">
                <a:alpha val="6075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0413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3167" y="719333"/>
            <a:ext cx="10265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3167" y="1583467"/>
            <a:ext cx="10265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80009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37"/>
          <p:cNvSpPr txBox="1">
            <a:spLocks noGrp="1"/>
          </p:cNvSpPr>
          <p:nvPr>
            <p:ph type="subTitle" idx="1"/>
          </p:nvPr>
        </p:nvSpPr>
        <p:spPr>
          <a:xfrm>
            <a:off x="0" y="1095636"/>
            <a:ext cx="12192000" cy="592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pt-BR" b="1">
                <a:solidFill>
                  <a:schemeClr val="bg2">
                    <a:lumMod val="25000"/>
                  </a:schemeClr>
                </a:solidFill>
              </a:rPr>
              <a:t>Diretoria de Gestão de Programas de Governo</a:t>
            </a:r>
            <a:endParaRPr b="1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9AFC04B-03AC-62A9-D1D0-357C6A0AA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02926"/>
            <a:ext cx="12192000" cy="1253740"/>
          </a:xfrm>
        </p:spPr>
        <p:txBody>
          <a:bodyPr/>
          <a:lstStyle/>
          <a:p>
            <a:r>
              <a:rPr lang="pt-BR" sz="2667">
                <a:solidFill>
                  <a:schemeClr val="tx1"/>
                </a:solidFill>
                <a:latin typeface="Lato Black" panose="020F0A02020204030203" pitchFamily="34" charset="0"/>
              </a:rPr>
              <a:t>Geração da Amostra</a:t>
            </a:r>
          </a:p>
        </p:txBody>
      </p:sp>
      <p:pic>
        <p:nvPicPr>
          <p:cNvPr id="6" name="Imagem 5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F73E8699-9A9E-7EC2-486C-C17F98690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220" y="103011"/>
            <a:ext cx="5278841" cy="885896"/>
          </a:xfrm>
          <a:prstGeom prst="rect">
            <a:avLst/>
          </a:prstGeom>
        </p:spPr>
      </p:pic>
      <p:sp>
        <p:nvSpPr>
          <p:cNvPr id="2" name="Google Shape;933;p37">
            <a:extLst>
              <a:ext uri="{FF2B5EF4-FFF2-40B4-BE49-F238E27FC236}">
                <a16:creationId xmlns:a16="http://schemas.microsoft.com/office/drawing/2014/main" id="{D4FB4108-11AB-109F-DBE2-D4EE34FD325D}"/>
              </a:ext>
            </a:extLst>
          </p:cNvPr>
          <p:cNvSpPr txBox="1">
            <a:spLocks/>
          </p:cNvSpPr>
          <p:nvPr/>
        </p:nvSpPr>
        <p:spPr>
          <a:xfrm>
            <a:off x="3886199" y="3844986"/>
            <a:ext cx="5504689" cy="1545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5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ven Pro"/>
              <a:buNone/>
              <a:defRPr sz="1800" b="0" i="0" u="none" strike="noStrike" cap="none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4953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it-IT"/>
              <a:t>Equatorial Pará – 4ª Tranche – (ECM-013-A/2023);</a:t>
            </a:r>
          </a:p>
          <a:p>
            <a:pPr marL="4953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it-IT"/>
              <a:t>Equatorial Pará – 7ª Tranche (ECO-021-D/2024);</a:t>
            </a:r>
          </a:p>
          <a:p>
            <a:pPr marL="4953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it-IT"/>
              <a:t>Coelba – 11ª Tranche (ECO-025-C/2024);</a:t>
            </a:r>
          </a:p>
          <a:p>
            <a:pPr marL="4953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it-IT"/>
              <a:t>Equatorial Piauí – 8ª Tranche – (ECO-029/2024);</a:t>
            </a:r>
          </a:p>
          <a:p>
            <a:pPr marL="4953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it-IT"/>
              <a:t>Energisa Tocantins – 2ª Tranche – (ECM-016/2025) e</a:t>
            </a:r>
          </a:p>
          <a:p>
            <a:pPr marL="4953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it-IT"/>
              <a:t>Energisa Tocantins – 3ª Tranche – (ECM-023/2025).</a:t>
            </a:r>
            <a:r>
              <a:rPr lang="it-IT" sz="1800" b="1" kern="0">
                <a:solidFill>
                  <a:srgbClr val="FEFEFE">
                    <a:lumMod val="25000"/>
                  </a:srgbClr>
                </a:solidFill>
              </a:rPr>
              <a:t> </a:t>
            </a:r>
            <a:endParaRPr lang="pt-BR" sz="1800" b="1" kern="0">
              <a:solidFill>
                <a:srgbClr val="FEFEFE">
                  <a:lumMod val="25000"/>
                </a:srgbClr>
              </a:solidFill>
            </a:endParaRPr>
          </a:p>
          <a:p>
            <a:pPr marL="495300" indent="-342900" algn="l">
              <a:buFont typeface="+mj-lt"/>
              <a:buAutoNum type="arabicPeriod"/>
            </a:pPr>
            <a:endParaRPr lang="it-IT"/>
          </a:p>
          <a:p>
            <a:pPr marL="0" indent="0" defTabSz="1219170">
              <a:buClr>
                <a:srgbClr val="00094A"/>
              </a:buClr>
            </a:pPr>
            <a:r>
              <a:rPr lang="it-IT" sz="2000" b="1" kern="0">
                <a:solidFill>
                  <a:srgbClr val="FEFEFE">
                    <a:lumMod val="25000"/>
                  </a:srgbClr>
                </a:solidFill>
              </a:rPr>
              <a:t> </a:t>
            </a:r>
            <a:endParaRPr lang="pt-BR" sz="2000" b="1" kern="0">
              <a:solidFill>
                <a:srgbClr val="FEFEFE">
                  <a:lumMod val="25000"/>
                </a:srgb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2"/>
          <p:cNvSpPr txBox="1">
            <a:spLocks noGrp="1"/>
          </p:cNvSpPr>
          <p:nvPr>
            <p:ph type="title"/>
          </p:nvPr>
        </p:nvSpPr>
        <p:spPr>
          <a:xfrm>
            <a:off x="965915" y="205440"/>
            <a:ext cx="10785819" cy="41328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Critérios de Dimensionamento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6E318BE-1437-5E94-F31C-6D1C54652739}"/>
              </a:ext>
            </a:extLst>
          </p:cNvPr>
          <p:cNvSpPr txBox="1"/>
          <p:nvPr/>
        </p:nvSpPr>
        <p:spPr>
          <a:xfrm>
            <a:off x="1115969" y="1039466"/>
            <a:ext cx="104857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pt-BR">
                <a:solidFill>
                  <a:schemeClr val="dk1"/>
                </a:solidFill>
                <a:latin typeface="Maven Pro"/>
              </a:rPr>
              <a:t>De acordo com o Edital nº 01/2025/2025 (SEI nº 0016254. SEI 48110.000305/2024-86 / pg. 17- Item 11.2.2), o tempo de execução e o valor das inspeções variam conforme cada tipo de demanda, considerando inspeções em redes de distribuição ou de geração. O valor da hora técnica (engenheiro e técnico) é pré-definido no Edital</a:t>
            </a:r>
            <a:r>
              <a:rPr lang="pt-BR">
                <a:solidFill>
                  <a:schemeClr val="dk1"/>
                </a:solidFill>
                <a:latin typeface="Maven Pro"/>
                <a:sym typeface="Maven Pro"/>
              </a:rPr>
              <a:t>;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F467626-17B6-2146-656B-0E29D3CF3E17}"/>
              </a:ext>
            </a:extLst>
          </p:cNvPr>
          <p:cNvSpPr txBox="1"/>
          <p:nvPr/>
        </p:nvSpPr>
        <p:spPr>
          <a:xfrm>
            <a:off x="1114878" y="2405556"/>
            <a:ext cx="1048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pt-BR">
                <a:solidFill>
                  <a:schemeClr val="dk1"/>
                </a:solidFill>
                <a:latin typeface="Maven Pro"/>
              </a:rPr>
              <a:t>Os custos apresentados são estimativos, pois o valor final depende da logística definida pelo Agente Executor, incluindo o roteiro das inspeções e o número de profissionais necessários</a:t>
            </a:r>
            <a:r>
              <a:rPr lang="pt-BR" sz="1800">
                <a:solidFill>
                  <a:schemeClr val="dk1"/>
                </a:solidFill>
                <a:latin typeface="Maven Pro"/>
                <a:sym typeface="Maven Pro"/>
              </a:rPr>
              <a:t>;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B8B73F8-52A4-928B-7CC3-B4A6FB307908}"/>
              </a:ext>
            </a:extLst>
          </p:cNvPr>
          <p:cNvSpPr txBox="1"/>
          <p:nvPr/>
        </p:nvSpPr>
        <p:spPr>
          <a:xfrm>
            <a:off x="1114878" y="3217648"/>
            <a:ext cx="10486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pt-BR">
                <a:solidFill>
                  <a:schemeClr val="dk1"/>
                </a:solidFill>
                <a:latin typeface="Maven Pro"/>
              </a:rPr>
              <a:t>A estimativa de custos foi elaborada com base na previsão da quantidade de equipes de campo, no volume de Unidades Consumidoras e nas condições logísticas dos municípios, que impactam diretamente o número de dias de inspeção.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>
          <a:extLst>
            <a:ext uri="{FF2B5EF4-FFF2-40B4-BE49-F238E27FC236}">
              <a16:creationId xmlns:a16="http://schemas.microsoft.com/office/drawing/2014/main" id="{948C4F2C-9B7A-B05E-534F-473FD30E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2">
            <a:extLst>
              <a:ext uri="{FF2B5EF4-FFF2-40B4-BE49-F238E27FC236}">
                <a16:creationId xmlns:a16="http://schemas.microsoft.com/office/drawing/2014/main" id="{B97A6136-FECA-E2AE-D191-4AC5A5F7BC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915" y="205440"/>
            <a:ext cx="10785819" cy="41328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Estimativa de Custo Total (R$)</a:t>
            </a:r>
            <a:endParaRPr sz="2400">
              <a:solidFill>
                <a:srgbClr val="0070C0"/>
              </a:solidFill>
            </a:endParaRP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DF125EE0-958D-CC9E-3DA0-B906FDA9AB5A}"/>
              </a:ext>
            </a:extLst>
          </p:cNvPr>
          <p:cNvSpPr>
            <a:spLocks noGrp="1"/>
          </p:cNvSpPr>
          <p:nvPr/>
        </p:nvSpPr>
        <p:spPr>
          <a:xfrm>
            <a:off x="1082039" y="733203"/>
            <a:ext cx="6370321" cy="3431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16000" tIns="48000" rIns="120000" bIns="4800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i="0" kern="1200" spc="300">
                <a:solidFill>
                  <a:schemeClr val="tx2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pt-BR" sz="1600" b="1" spc="400">
                <a:solidFill>
                  <a:srgbClr val="00094A"/>
                </a:solidFill>
                <a:latin typeface="Arial"/>
                <a:sym typeface="Arial"/>
              </a:rPr>
              <a:t>2ª amostra -COELBA 11ª TRANCHE 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8DCF7F4-1061-CBCA-95C5-52ABEBCE648A}"/>
              </a:ext>
            </a:extLst>
          </p:cNvPr>
          <p:cNvSpPr txBox="1"/>
          <p:nvPr/>
        </p:nvSpPr>
        <p:spPr>
          <a:xfrm>
            <a:off x="1380447" y="2673910"/>
            <a:ext cx="5992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>
                <a:solidFill>
                  <a:schemeClr val="dk1"/>
                </a:solidFill>
                <a:latin typeface="Maven Pro"/>
              </a:rPr>
              <a:t>Investimento total: </a:t>
            </a:r>
            <a:r>
              <a:rPr lang="pt-BR">
                <a:solidFill>
                  <a:schemeClr val="dk1"/>
                </a:solidFill>
                <a:latin typeface="Maven Pro"/>
              </a:rPr>
              <a:t>R$ 931.328.570,00</a:t>
            </a:r>
          </a:p>
          <a:p>
            <a:r>
              <a:rPr lang="pt-BR" b="1">
                <a:solidFill>
                  <a:schemeClr val="dk1"/>
                </a:solidFill>
                <a:latin typeface="Maven Pro"/>
              </a:rPr>
              <a:t>Unidades atendidas: </a:t>
            </a:r>
            <a:r>
              <a:rPr lang="pt-BR">
                <a:solidFill>
                  <a:schemeClr val="dk1"/>
                </a:solidFill>
                <a:latin typeface="Maven Pro"/>
              </a:rPr>
              <a:t>22.059</a:t>
            </a:r>
          </a:p>
          <a:p>
            <a:r>
              <a:rPr lang="pt-BR" b="1">
                <a:solidFill>
                  <a:schemeClr val="dk1"/>
                </a:solidFill>
                <a:latin typeface="Maven Pro"/>
              </a:rPr>
              <a:t>Período previsto de inspeção em campo: </a:t>
            </a:r>
            <a:r>
              <a:rPr lang="pt-BR">
                <a:solidFill>
                  <a:schemeClr val="dk1"/>
                </a:solidFill>
                <a:latin typeface="Maven Pro"/>
              </a:rPr>
              <a:t>23/03 a 03/04/2026</a:t>
            </a:r>
          </a:p>
          <a:p>
            <a:r>
              <a:rPr lang="pt-BR" b="1">
                <a:solidFill>
                  <a:schemeClr val="dk1"/>
                </a:solidFill>
                <a:latin typeface="Maven Pro"/>
              </a:rPr>
              <a:t>Entrega do relatório final prevista</a:t>
            </a:r>
            <a:r>
              <a:rPr lang="pt-BR">
                <a:solidFill>
                  <a:schemeClr val="dk1"/>
                </a:solidFill>
                <a:latin typeface="Maven Pro"/>
              </a:rPr>
              <a:t>: 20/05/2026</a:t>
            </a:r>
          </a:p>
          <a:p>
            <a:pPr marL="380990" indent="-380990" algn="just"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endParaRPr lang="pt-BR">
              <a:solidFill>
                <a:schemeClr val="dk1"/>
              </a:solidFill>
              <a:latin typeface="Maven Pro"/>
              <a:sym typeface="Maven Pro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62D53391-6D59-1680-2836-D88BD28A4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528717"/>
              </p:ext>
            </p:extLst>
          </p:nvPr>
        </p:nvGraphicFramePr>
        <p:xfrm>
          <a:off x="1486962" y="1231255"/>
          <a:ext cx="10264772" cy="1287762"/>
        </p:xfrm>
        <a:graphic>
          <a:graphicData uri="http://schemas.openxmlformats.org/drawingml/2006/table">
            <a:tbl>
              <a:tblPr/>
              <a:tblGrid>
                <a:gridCol w="871214">
                  <a:extLst>
                    <a:ext uri="{9D8B030D-6E8A-4147-A177-3AD203B41FA5}">
                      <a16:colId xmlns:a16="http://schemas.microsoft.com/office/drawing/2014/main" val="3014322741"/>
                    </a:ext>
                  </a:extLst>
                </a:gridCol>
                <a:gridCol w="871214">
                  <a:extLst>
                    <a:ext uri="{9D8B030D-6E8A-4147-A177-3AD203B41FA5}">
                      <a16:colId xmlns:a16="http://schemas.microsoft.com/office/drawing/2014/main" val="188918902"/>
                    </a:ext>
                  </a:extLst>
                </a:gridCol>
                <a:gridCol w="597404">
                  <a:extLst>
                    <a:ext uri="{9D8B030D-6E8A-4147-A177-3AD203B41FA5}">
                      <a16:colId xmlns:a16="http://schemas.microsoft.com/office/drawing/2014/main" val="2227598880"/>
                    </a:ext>
                  </a:extLst>
                </a:gridCol>
                <a:gridCol w="840100">
                  <a:extLst>
                    <a:ext uri="{9D8B030D-6E8A-4147-A177-3AD203B41FA5}">
                      <a16:colId xmlns:a16="http://schemas.microsoft.com/office/drawing/2014/main" val="2187752665"/>
                    </a:ext>
                  </a:extLst>
                </a:gridCol>
                <a:gridCol w="597404">
                  <a:extLst>
                    <a:ext uri="{9D8B030D-6E8A-4147-A177-3AD203B41FA5}">
                      <a16:colId xmlns:a16="http://schemas.microsoft.com/office/drawing/2014/main" val="1754046894"/>
                    </a:ext>
                  </a:extLst>
                </a:gridCol>
                <a:gridCol w="597404">
                  <a:extLst>
                    <a:ext uri="{9D8B030D-6E8A-4147-A177-3AD203B41FA5}">
                      <a16:colId xmlns:a16="http://schemas.microsoft.com/office/drawing/2014/main" val="134767743"/>
                    </a:ext>
                  </a:extLst>
                </a:gridCol>
                <a:gridCol w="597404">
                  <a:extLst>
                    <a:ext uri="{9D8B030D-6E8A-4147-A177-3AD203B41FA5}">
                      <a16:colId xmlns:a16="http://schemas.microsoft.com/office/drawing/2014/main" val="2236530153"/>
                    </a:ext>
                  </a:extLst>
                </a:gridCol>
                <a:gridCol w="597404">
                  <a:extLst>
                    <a:ext uri="{9D8B030D-6E8A-4147-A177-3AD203B41FA5}">
                      <a16:colId xmlns:a16="http://schemas.microsoft.com/office/drawing/2014/main" val="3032548823"/>
                    </a:ext>
                  </a:extLst>
                </a:gridCol>
                <a:gridCol w="597404">
                  <a:extLst>
                    <a:ext uri="{9D8B030D-6E8A-4147-A177-3AD203B41FA5}">
                      <a16:colId xmlns:a16="http://schemas.microsoft.com/office/drawing/2014/main" val="1190691444"/>
                    </a:ext>
                  </a:extLst>
                </a:gridCol>
                <a:gridCol w="1642862">
                  <a:extLst>
                    <a:ext uri="{9D8B030D-6E8A-4147-A177-3AD203B41FA5}">
                      <a16:colId xmlns:a16="http://schemas.microsoft.com/office/drawing/2014/main" val="30322476"/>
                    </a:ext>
                  </a:extLst>
                </a:gridCol>
                <a:gridCol w="933444">
                  <a:extLst>
                    <a:ext uri="{9D8B030D-6E8A-4147-A177-3AD203B41FA5}">
                      <a16:colId xmlns:a16="http://schemas.microsoft.com/office/drawing/2014/main" val="4073520598"/>
                    </a:ext>
                  </a:extLst>
                </a:gridCol>
                <a:gridCol w="597404">
                  <a:extLst>
                    <a:ext uri="{9D8B030D-6E8A-4147-A177-3AD203B41FA5}">
                      <a16:colId xmlns:a16="http://schemas.microsoft.com/office/drawing/2014/main" val="1188236281"/>
                    </a:ext>
                  </a:extLst>
                </a:gridCol>
                <a:gridCol w="924110">
                  <a:extLst>
                    <a:ext uri="{9D8B030D-6E8A-4147-A177-3AD203B41FA5}">
                      <a16:colId xmlns:a16="http://schemas.microsoft.com/office/drawing/2014/main" val="1660820991"/>
                    </a:ext>
                  </a:extLst>
                </a:gridCol>
              </a:tblGrid>
              <a:tr h="214627">
                <a:tc gridSpan="1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 COELBA 11ª TRANCHE  - LPT Rural - Lote 1 - Erro 9%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422976"/>
                  </a:ext>
                </a:extLst>
              </a:tr>
              <a:tr h="42925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Lote</a:t>
                      </a:r>
                    </a:p>
                  </a:txBody>
                  <a:tcPr marL="9332" marR="9332" marT="93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ODI</a:t>
                      </a:r>
                    </a:p>
                  </a:txBody>
                  <a:tcPr marL="9332" marR="9332" marT="93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Municípios</a:t>
                      </a:r>
                    </a:p>
                  </a:txBody>
                  <a:tcPr marL="9332" marR="9332" marT="93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UC</a:t>
                      </a:r>
                    </a:p>
                  </a:txBody>
                  <a:tcPr marL="9332" marR="9332" marT="93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Trafos</a:t>
                      </a:r>
                    </a:p>
                  </a:txBody>
                  <a:tcPr marL="9332" marR="9332" marT="93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Postes</a:t>
                      </a:r>
                    </a:p>
                  </a:txBody>
                  <a:tcPr marL="9332" marR="9332" marT="93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km AT</a:t>
                      </a:r>
                    </a:p>
                  </a:txBody>
                  <a:tcPr marL="9332" marR="9332" marT="93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km BT</a:t>
                      </a:r>
                    </a:p>
                  </a:txBody>
                  <a:tcPr marL="9332" marR="9332" marT="93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Custo Estimado (R$)</a:t>
                      </a:r>
                    </a:p>
                  </a:txBody>
                  <a:tcPr marL="9332" marR="9332" marT="93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Dias</a:t>
                      </a:r>
                    </a:p>
                  </a:txBody>
                  <a:tcPr marL="9332" marR="9332" marT="93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Equipe</a:t>
                      </a:r>
                    </a:p>
                  </a:txBody>
                  <a:tcPr marL="9332" marR="9332" marT="93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Amostra Sugerida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856068"/>
                  </a:ext>
                </a:extLst>
              </a:tr>
              <a:tr h="214627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Amostras por nº de Estratos</a:t>
                      </a:r>
                    </a:p>
                  </a:txBody>
                  <a:tcPr marL="9332" marR="9332" marT="93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6</a:t>
                      </a:r>
                    </a:p>
                  </a:txBody>
                  <a:tcPr marL="9332" marR="9332" marT="93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48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42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786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287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5.196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312,5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96,71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R$ 200.160,00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11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099022"/>
                  </a:ext>
                </a:extLst>
              </a:tr>
              <a:tr h="21462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5</a:t>
                      </a:r>
                    </a:p>
                  </a:txBody>
                  <a:tcPr marL="9332" marR="9332" marT="93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64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44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798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324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5.468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309,4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102,08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R$ 204.960,00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13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X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438487"/>
                  </a:ext>
                </a:extLst>
              </a:tr>
              <a:tr h="214627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4</a:t>
                      </a:r>
                    </a:p>
                  </a:txBody>
                  <a:tcPr marL="9332" marR="9332" marT="93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91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55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1.266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506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9.518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638,0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156,17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R$ 267.360,00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16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332" marR="9332" marT="93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610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7996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>
          <a:extLst>
            <a:ext uri="{FF2B5EF4-FFF2-40B4-BE49-F238E27FC236}">
              <a16:creationId xmlns:a16="http://schemas.microsoft.com/office/drawing/2014/main" id="{FDDE1B9C-C3AA-ECBA-4CC4-9FB7B704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2">
            <a:extLst>
              <a:ext uri="{FF2B5EF4-FFF2-40B4-BE49-F238E27FC236}">
                <a16:creationId xmlns:a16="http://schemas.microsoft.com/office/drawing/2014/main" id="{EC4008DB-5D0D-E705-ABA3-D20B46578B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915" y="205440"/>
            <a:ext cx="10785819" cy="41328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Mapa dos Estratos </a:t>
            </a:r>
            <a:endParaRPr sz="2400">
              <a:solidFill>
                <a:srgbClr val="0070C0"/>
              </a:solidFill>
            </a:endParaRPr>
          </a:p>
        </p:txBody>
      </p:sp>
      <p:pic>
        <p:nvPicPr>
          <p:cNvPr id="20" name="Imagem 19" descr="Mapa&#10;&#10;O conteúdo gerado por IA pode estar incorreto.">
            <a:extLst>
              <a:ext uri="{FF2B5EF4-FFF2-40B4-BE49-F238E27FC236}">
                <a16:creationId xmlns:a16="http://schemas.microsoft.com/office/drawing/2014/main" id="{BE6E2F3A-1B85-616E-F95D-143A09B70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564" y="1423356"/>
            <a:ext cx="2754654" cy="3060334"/>
          </a:xfrm>
          <a:prstGeom prst="rect">
            <a:avLst/>
          </a:prstGeom>
        </p:spPr>
      </p:pic>
      <p:pic>
        <p:nvPicPr>
          <p:cNvPr id="25" name="Imagem 24" descr="Mapa&#10;&#10;O conteúdo gerado por IA pode estar incorreto.">
            <a:extLst>
              <a:ext uri="{FF2B5EF4-FFF2-40B4-BE49-F238E27FC236}">
                <a16:creationId xmlns:a16="http://schemas.microsoft.com/office/drawing/2014/main" id="{C45B4448-2249-3772-FDF5-CE24BAA94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2672" y="1418135"/>
            <a:ext cx="2916000" cy="3063886"/>
          </a:xfrm>
          <a:prstGeom prst="rect">
            <a:avLst/>
          </a:prstGeom>
        </p:spPr>
      </p:pic>
      <p:pic>
        <p:nvPicPr>
          <p:cNvPr id="27" name="Imagem 26" descr="Mapa&#10;&#10;O conteúdo gerado por IA pode estar incorreto.">
            <a:extLst>
              <a:ext uri="{FF2B5EF4-FFF2-40B4-BE49-F238E27FC236}">
                <a16:creationId xmlns:a16="http://schemas.microsoft.com/office/drawing/2014/main" id="{27715AB4-A954-1FDF-A6C9-3F8D4EE54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945" y="1446757"/>
            <a:ext cx="2952000" cy="3062749"/>
          </a:xfrm>
          <a:prstGeom prst="rect">
            <a:avLst/>
          </a:prstGeom>
        </p:spPr>
      </p:pic>
      <p:sp>
        <p:nvSpPr>
          <p:cNvPr id="30" name="Retângulo 29">
            <a:extLst>
              <a:ext uri="{FF2B5EF4-FFF2-40B4-BE49-F238E27FC236}">
                <a16:creationId xmlns:a16="http://schemas.microsoft.com/office/drawing/2014/main" id="{32A019DA-D08B-2C7C-D1C2-646A61FE44DF}"/>
              </a:ext>
            </a:extLst>
          </p:cNvPr>
          <p:cNvSpPr/>
          <p:nvPr/>
        </p:nvSpPr>
        <p:spPr>
          <a:xfrm>
            <a:off x="1095565" y="1111419"/>
            <a:ext cx="2768179" cy="246638"/>
          </a:xfrm>
          <a:prstGeom prst="rect">
            <a:avLst/>
          </a:prstGeom>
          <a:solidFill>
            <a:srgbClr val="85858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41C137E-DB8C-7757-D035-1CEF82C0F29A}"/>
              </a:ext>
            </a:extLst>
          </p:cNvPr>
          <p:cNvSpPr/>
          <p:nvPr/>
        </p:nvSpPr>
        <p:spPr>
          <a:xfrm>
            <a:off x="4154294" y="1121851"/>
            <a:ext cx="2894377" cy="246638"/>
          </a:xfrm>
          <a:prstGeom prst="rect">
            <a:avLst/>
          </a:prstGeom>
          <a:solidFill>
            <a:srgbClr val="85858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43AB6AF4-2B23-F578-6F06-8D4AC28353BE}"/>
              </a:ext>
            </a:extLst>
          </p:cNvPr>
          <p:cNvSpPr/>
          <p:nvPr/>
        </p:nvSpPr>
        <p:spPr>
          <a:xfrm>
            <a:off x="7356944" y="1133553"/>
            <a:ext cx="2951999" cy="246638"/>
          </a:xfrm>
          <a:prstGeom prst="rect">
            <a:avLst/>
          </a:prstGeom>
          <a:solidFill>
            <a:srgbClr val="85858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364BE48-B9A0-12F3-4325-9FFC93FA77D2}"/>
              </a:ext>
            </a:extLst>
          </p:cNvPr>
          <p:cNvSpPr txBox="1"/>
          <p:nvPr/>
        </p:nvSpPr>
        <p:spPr>
          <a:xfrm>
            <a:off x="1070531" y="1048803"/>
            <a:ext cx="2768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prstClr val="white"/>
                </a:solidFill>
                <a:latin typeface="Calibri" panose="020F0502020204030204"/>
              </a:rPr>
              <a:t>Estrato 06</a:t>
            </a:r>
            <a:endParaRPr lang="pt-BR" sz="1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B0A2E43-0096-FB69-D397-1312B03CF5B0}"/>
              </a:ext>
            </a:extLst>
          </p:cNvPr>
          <p:cNvSpPr txBox="1"/>
          <p:nvPr/>
        </p:nvSpPr>
        <p:spPr>
          <a:xfrm>
            <a:off x="4132671" y="1044647"/>
            <a:ext cx="291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prstClr val="white"/>
                </a:solidFill>
                <a:latin typeface="Calibri" panose="020F0502020204030204"/>
              </a:rPr>
              <a:t>Estrato 05</a:t>
            </a:r>
            <a:endParaRPr lang="pt-BR" sz="1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B174DA1-0600-F1AB-724B-CDA23D26AF6E}"/>
              </a:ext>
            </a:extLst>
          </p:cNvPr>
          <p:cNvSpPr txBox="1"/>
          <p:nvPr/>
        </p:nvSpPr>
        <p:spPr>
          <a:xfrm>
            <a:off x="7350451" y="1072206"/>
            <a:ext cx="2958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prstClr val="white"/>
                </a:solidFill>
                <a:latin typeface="Calibri" panose="020F0502020204030204"/>
              </a:rPr>
              <a:t>Estrato 04</a:t>
            </a:r>
            <a:endParaRPr lang="pt-BR" sz="1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6A558798-DBEF-5721-B359-8F426F21B34A}"/>
              </a:ext>
            </a:extLst>
          </p:cNvPr>
          <p:cNvSpPr/>
          <p:nvPr/>
        </p:nvSpPr>
        <p:spPr>
          <a:xfrm>
            <a:off x="1109227" y="4578944"/>
            <a:ext cx="2740991" cy="1754326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74BB127D-7FE7-B0C4-0A72-6EA9506EAD14}"/>
              </a:ext>
            </a:extLst>
          </p:cNvPr>
          <p:cNvSpPr/>
          <p:nvPr/>
        </p:nvSpPr>
        <p:spPr>
          <a:xfrm>
            <a:off x="4159639" y="4574788"/>
            <a:ext cx="2881390" cy="1784281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B8A97FCE-0A0A-7143-4B7D-7916C97E89DE}"/>
              </a:ext>
            </a:extLst>
          </p:cNvPr>
          <p:cNvSpPr/>
          <p:nvPr/>
        </p:nvSpPr>
        <p:spPr>
          <a:xfrm>
            <a:off x="7356945" y="4574789"/>
            <a:ext cx="2951998" cy="1784280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A278D74A-4862-68C2-EFA1-940A6AE817A4}"/>
              </a:ext>
            </a:extLst>
          </p:cNvPr>
          <p:cNvSpPr txBox="1"/>
          <p:nvPr/>
        </p:nvSpPr>
        <p:spPr>
          <a:xfrm>
            <a:off x="1070531" y="4608899"/>
            <a:ext cx="28943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/>
              <a:t>Projetos: 48</a:t>
            </a:r>
          </a:p>
          <a:p>
            <a:r>
              <a:rPr lang="pt-BR" sz="1200"/>
              <a:t>Municípios a serem inspecionados: 42</a:t>
            </a:r>
          </a:p>
          <a:p>
            <a:r>
              <a:rPr lang="pt-BR" sz="1200"/>
              <a:t>Unidades Consumidoras (UC): 786</a:t>
            </a:r>
          </a:p>
          <a:p>
            <a:r>
              <a:rPr lang="pt-BR" sz="1200"/>
              <a:t>Transformadores: 287</a:t>
            </a:r>
          </a:p>
          <a:p>
            <a:r>
              <a:rPr lang="pt-BR" sz="1200"/>
              <a:t>Postes: 5.196</a:t>
            </a:r>
          </a:p>
          <a:p>
            <a:r>
              <a:rPr lang="pt-BR" sz="1200"/>
              <a:t>Extensão de Rede:</a:t>
            </a:r>
          </a:p>
          <a:p>
            <a:r>
              <a:rPr lang="pt-BR" sz="1200"/>
              <a:t>AT: 312,5 km</a:t>
            </a:r>
          </a:p>
          <a:p>
            <a:r>
              <a:rPr lang="pt-BR" sz="1200"/>
              <a:t>BT: 96,71 km</a:t>
            </a:r>
          </a:p>
          <a:p>
            <a:r>
              <a:rPr lang="pt-BR" sz="1200"/>
              <a:t>Custo Estimado Total: R$ 200.160,00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0AD9C966-664B-42CD-9C40-70611447C8D0}"/>
              </a:ext>
            </a:extLst>
          </p:cNvPr>
          <p:cNvSpPr txBox="1"/>
          <p:nvPr/>
        </p:nvSpPr>
        <p:spPr>
          <a:xfrm>
            <a:off x="4153146" y="4574788"/>
            <a:ext cx="28943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/>
              <a:t>Projetos : 64</a:t>
            </a:r>
          </a:p>
          <a:p>
            <a:r>
              <a:rPr lang="pt-BR" sz="1200"/>
              <a:t>Municípios a serem inspecionados: 44</a:t>
            </a:r>
          </a:p>
          <a:p>
            <a:r>
              <a:rPr lang="pt-BR" sz="1200"/>
              <a:t>Unidades Consumidoras (UC): 798</a:t>
            </a:r>
          </a:p>
          <a:p>
            <a:r>
              <a:rPr lang="pt-BR" sz="1200"/>
              <a:t>Transformadores: 324</a:t>
            </a:r>
          </a:p>
          <a:p>
            <a:r>
              <a:rPr lang="pt-BR" sz="1200"/>
              <a:t>Postes: 5.468</a:t>
            </a:r>
          </a:p>
          <a:p>
            <a:r>
              <a:rPr lang="pt-BR" sz="1200"/>
              <a:t>Extensão de Rede:</a:t>
            </a:r>
          </a:p>
          <a:p>
            <a:r>
              <a:rPr lang="pt-BR" sz="1200"/>
              <a:t>AT: 309,4 km</a:t>
            </a:r>
          </a:p>
          <a:p>
            <a:r>
              <a:rPr lang="pt-BR" sz="1200"/>
              <a:t>BT: 102,71 km</a:t>
            </a:r>
          </a:p>
          <a:p>
            <a:r>
              <a:rPr lang="pt-BR" sz="1200"/>
              <a:t>Custo Estimado Total: R$ 204.960,00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E128580-8679-CD72-0654-36C0DACF6B51}"/>
              </a:ext>
            </a:extLst>
          </p:cNvPr>
          <p:cNvSpPr txBox="1"/>
          <p:nvPr/>
        </p:nvSpPr>
        <p:spPr>
          <a:xfrm>
            <a:off x="7350451" y="4574788"/>
            <a:ext cx="30741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/>
              <a:t>Projetos : 91</a:t>
            </a:r>
          </a:p>
          <a:p>
            <a:r>
              <a:rPr lang="pt-BR" sz="1200"/>
              <a:t>Municípios a serem inspecionados: 55</a:t>
            </a:r>
          </a:p>
          <a:p>
            <a:r>
              <a:rPr lang="pt-BR" sz="1200"/>
              <a:t>Unidades Consumidoras (UC): 1.266</a:t>
            </a:r>
          </a:p>
          <a:p>
            <a:r>
              <a:rPr lang="pt-BR" sz="1200"/>
              <a:t>Transformadores: 506</a:t>
            </a:r>
          </a:p>
          <a:p>
            <a:r>
              <a:rPr lang="pt-BR" sz="1200"/>
              <a:t>Postes: 9.518</a:t>
            </a:r>
          </a:p>
          <a:p>
            <a:r>
              <a:rPr lang="pt-BR" sz="1200"/>
              <a:t>Extensão de Rede:</a:t>
            </a:r>
          </a:p>
          <a:p>
            <a:r>
              <a:rPr lang="pt-BR" sz="1200"/>
              <a:t>AT: 638,0 km</a:t>
            </a:r>
          </a:p>
          <a:p>
            <a:r>
              <a:rPr lang="pt-BR" sz="1200"/>
              <a:t>BT: 156,17 km</a:t>
            </a:r>
          </a:p>
          <a:p>
            <a:r>
              <a:rPr lang="pt-BR" sz="1200"/>
              <a:t>Custo Estimado Total: R$ 267.360,00</a:t>
            </a:r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36800FFE-3BB7-F3B5-5B7D-4AC72CE4FFD8}"/>
              </a:ext>
            </a:extLst>
          </p:cNvPr>
          <p:cNvSpPr>
            <a:spLocks noGrp="1"/>
          </p:cNvSpPr>
          <p:nvPr/>
        </p:nvSpPr>
        <p:spPr>
          <a:xfrm>
            <a:off x="1082039" y="733203"/>
            <a:ext cx="6370321" cy="3431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16000" tIns="48000" rIns="120000" bIns="4800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i="0" kern="1200" spc="300">
                <a:solidFill>
                  <a:schemeClr val="tx2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pt-BR" sz="1600" b="1" spc="400">
                <a:solidFill>
                  <a:srgbClr val="00094A"/>
                </a:solidFill>
                <a:latin typeface="Arial"/>
                <a:sym typeface="Arial"/>
              </a:rPr>
              <a:t>2ª amostra -COELBA 11ª TRANCHE  </a:t>
            </a:r>
          </a:p>
        </p:txBody>
      </p:sp>
    </p:spTree>
    <p:extLst>
      <p:ext uri="{BB962C8B-B14F-4D97-AF65-F5344CB8AC3E}">
        <p14:creationId xmlns:p14="http://schemas.microsoft.com/office/powerpoint/2010/main" val="295589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>
          <a:extLst>
            <a:ext uri="{FF2B5EF4-FFF2-40B4-BE49-F238E27FC236}">
              <a16:creationId xmlns:a16="http://schemas.microsoft.com/office/drawing/2014/main" id="{C8ACA174-E57F-1A7F-EB67-EE124F879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2">
            <a:extLst>
              <a:ext uri="{FF2B5EF4-FFF2-40B4-BE49-F238E27FC236}">
                <a16:creationId xmlns:a16="http://schemas.microsoft.com/office/drawing/2014/main" id="{07FFEF01-BA44-54D2-DAAB-4AFFDEF349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915" y="205440"/>
            <a:ext cx="10824981" cy="41328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Estimativa de Custo Total (R$)</a:t>
            </a:r>
            <a:endParaRPr sz="2400">
              <a:solidFill>
                <a:srgbClr val="0070C0"/>
              </a:solidFill>
            </a:endParaRP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00003DE3-6B06-7AB7-CE77-94730B4316FE}"/>
              </a:ext>
            </a:extLst>
          </p:cNvPr>
          <p:cNvSpPr>
            <a:spLocks noGrp="1"/>
          </p:cNvSpPr>
          <p:nvPr/>
        </p:nvSpPr>
        <p:spPr>
          <a:xfrm>
            <a:off x="1082039" y="733203"/>
            <a:ext cx="6370321" cy="3431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16000" tIns="48000" rIns="120000" bIns="4800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i="0" kern="1200" spc="300">
                <a:solidFill>
                  <a:schemeClr val="tx2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pt-BR" sz="1600" b="1" spc="400">
                <a:solidFill>
                  <a:srgbClr val="00094A"/>
                </a:solidFill>
                <a:latin typeface="Arial"/>
                <a:sym typeface="Arial"/>
              </a:rPr>
              <a:t>2ª amostra -EQTL PA 7ª TRANCHE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2ED98BE-AF1D-C31B-B255-F00E564E91BA}"/>
              </a:ext>
            </a:extLst>
          </p:cNvPr>
          <p:cNvSpPr txBox="1"/>
          <p:nvPr/>
        </p:nvSpPr>
        <p:spPr>
          <a:xfrm>
            <a:off x="1416199" y="2878370"/>
            <a:ext cx="5992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>
                <a:solidFill>
                  <a:schemeClr val="dk1"/>
                </a:solidFill>
                <a:latin typeface="Maven Pro"/>
              </a:rPr>
              <a:t>Investimento total: </a:t>
            </a:r>
            <a:r>
              <a:rPr lang="pt-BR">
                <a:solidFill>
                  <a:schemeClr val="dk1"/>
                </a:solidFill>
                <a:latin typeface="Maven Pro"/>
                <a:sym typeface="Maven Pro"/>
              </a:rPr>
              <a:t>R$ 564.391.370,00</a:t>
            </a:r>
            <a:endParaRPr lang="pt-BR">
              <a:solidFill>
                <a:schemeClr val="dk1"/>
              </a:solidFill>
              <a:latin typeface="Maven Pro"/>
            </a:endParaRPr>
          </a:p>
          <a:p>
            <a:r>
              <a:rPr lang="pt-BR" b="1">
                <a:solidFill>
                  <a:schemeClr val="dk1"/>
                </a:solidFill>
                <a:latin typeface="Maven Pro"/>
              </a:rPr>
              <a:t>Unidades atendidas: </a:t>
            </a:r>
            <a:r>
              <a:rPr lang="pt-BR">
                <a:solidFill>
                  <a:schemeClr val="dk1"/>
                </a:solidFill>
                <a:latin typeface="Maven Pro"/>
              </a:rPr>
              <a:t>22.586</a:t>
            </a:r>
          </a:p>
          <a:p>
            <a:r>
              <a:rPr lang="pt-BR" b="1">
                <a:solidFill>
                  <a:schemeClr val="dk1"/>
                </a:solidFill>
                <a:latin typeface="Maven Pro"/>
              </a:rPr>
              <a:t>Período previsto de inspeção em campo: </a:t>
            </a:r>
            <a:r>
              <a:rPr lang="pt-BR">
                <a:solidFill>
                  <a:schemeClr val="dk1"/>
                </a:solidFill>
                <a:latin typeface="Maven Pro"/>
              </a:rPr>
              <a:t>23/03 a 03/04/2026</a:t>
            </a:r>
          </a:p>
          <a:p>
            <a:r>
              <a:rPr lang="pt-BR" b="1">
                <a:solidFill>
                  <a:schemeClr val="dk1"/>
                </a:solidFill>
                <a:latin typeface="Maven Pro"/>
              </a:rPr>
              <a:t>Entrega do relatório final prevista</a:t>
            </a:r>
            <a:r>
              <a:rPr lang="pt-BR">
                <a:solidFill>
                  <a:schemeClr val="dk1"/>
                </a:solidFill>
                <a:latin typeface="Maven Pro"/>
              </a:rPr>
              <a:t>: 20/05/2026</a:t>
            </a:r>
          </a:p>
          <a:p>
            <a:pPr marL="380990" indent="-380990" algn="just"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endParaRPr lang="pt-BR">
              <a:solidFill>
                <a:schemeClr val="dk1"/>
              </a:solidFill>
              <a:latin typeface="Maven Pro"/>
              <a:sym typeface="Maven Pro"/>
            </a:endParaRP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BCC08AE9-BED4-75A5-566C-F17AB4C12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412072"/>
              </p:ext>
            </p:extLst>
          </p:nvPr>
        </p:nvGraphicFramePr>
        <p:xfrm>
          <a:off x="1416199" y="1265059"/>
          <a:ext cx="10264773" cy="1424614"/>
        </p:xfrm>
        <a:graphic>
          <a:graphicData uri="http://schemas.openxmlformats.org/drawingml/2006/table">
            <a:tbl>
              <a:tblPr/>
              <a:tblGrid>
                <a:gridCol w="881637">
                  <a:extLst>
                    <a:ext uri="{9D8B030D-6E8A-4147-A177-3AD203B41FA5}">
                      <a16:colId xmlns:a16="http://schemas.microsoft.com/office/drawing/2014/main" val="2386187082"/>
                    </a:ext>
                  </a:extLst>
                </a:gridCol>
                <a:gridCol w="881637">
                  <a:extLst>
                    <a:ext uri="{9D8B030D-6E8A-4147-A177-3AD203B41FA5}">
                      <a16:colId xmlns:a16="http://schemas.microsoft.com/office/drawing/2014/main" val="2160131833"/>
                    </a:ext>
                  </a:extLst>
                </a:gridCol>
                <a:gridCol w="604551">
                  <a:extLst>
                    <a:ext uri="{9D8B030D-6E8A-4147-A177-3AD203B41FA5}">
                      <a16:colId xmlns:a16="http://schemas.microsoft.com/office/drawing/2014/main" val="3448293429"/>
                    </a:ext>
                  </a:extLst>
                </a:gridCol>
                <a:gridCol w="850150">
                  <a:extLst>
                    <a:ext uri="{9D8B030D-6E8A-4147-A177-3AD203B41FA5}">
                      <a16:colId xmlns:a16="http://schemas.microsoft.com/office/drawing/2014/main" val="2929163207"/>
                    </a:ext>
                  </a:extLst>
                </a:gridCol>
                <a:gridCol w="604551">
                  <a:extLst>
                    <a:ext uri="{9D8B030D-6E8A-4147-A177-3AD203B41FA5}">
                      <a16:colId xmlns:a16="http://schemas.microsoft.com/office/drawing/2014/main" val="402894074"/>
                    </a:ext>
                  </a:extLst>
                </a:gridCol>
                <a:gridCol w="604551">
                  <a:extLst>
                    <a:ext uri="{9D8B030D-6E8A-4147-A177-3AD203B41FA5}">
                      <a16:colId xmlns:a16="http://schemas.microsoft.com/office/drawing/2014/main" val="2668101410"/>
                    </a:ext>
                  </a:extLst>
                </a:gridCol>
                <a:gridCol w="604551">
                  <a:extLst>
                    <a:ext uri="{9D8B030D-6E8A-4147-A177-3AD203B41FA5}">
                      <a16:colId xmlns:a16="http://schemas.microsoft.com/office/drawing/2014/main" val="1023544479"/>
                    </a:ext>
                  </a:extLst>
                </a:gridCol>
                <a:gridCol w="604551">
                  <a:extLst>
                    <a:ext uri="{9D8B030D-6E8A-4147-A177-3AD203B41FA5}">
                      <a16:colId xmlns:a16="http://schemas.microsoft.com/office/drawing/2014/main" val="3583920038"/>
                    </a:ext>
                  </a:extLst>
                </a:gridCol>
                <a:gridCol w="604551">
                  <a:extLst>
                    <a:ext uri="{9D8B030D-6E8A-4147-A177-3AD203B41FA5}">
                      <a16:colId xmlns:a16="http://schemas.microsoft.com/office/drawing/2014/main" val="3824337625"/>
                    </a:ext>
                  </a:extLst>
                </a:gridCol>
                <a:gridCol w="1662516">
                  <a:extLst>
                    <a:ext uri="{9D8B030D-6E8A-4147-A177-3AD203B41FA5}">
                      <a16:colId xmlns:a16="http://schemas.microsoft.com/office/drawing/2014/main" val="2859684548"/>
                    </a:ext>
                  </a:extLst>
                </a:gridCol>
                <a:gridCol w="689566">
                  <a:extLst>
                    <a:ext uri="{9D8B030D-6E8A-4147-A177-3AD203B41FA5}">
                      <a16:colId xmlns:a16="http://schemas.microsoft.com/office/drawing/2014/main" val="3625555425"/>
                    </a:ext>
                  </a:extLst>
                </a:gridCol>
                <a:gridCol w="689566">
                  <a:extLst>
                    <a:ext uri="{9D8B030D-6E8A-4147-A177-3AD203B41FA5}">
                      <a16:colId xmlns:a16="http://schemas.microsoft.com/office/drawing/2014/main" val="2177644175"/>
                    </a:ext>
                  </a:extLst>
                </a:gridCol>
                <a:gridCol w="982395">
                  <a:extLst>
                    <a:ext uri="{9D8B030D-6E8A-4147-A177-3AD203B41FA5}">
                      <a16:colId xmlns:a16="http://schemas.microsoft.com/office/drawing/2014/main" val="3575031616"/>
                    </a:ext>
                  </a:extLst>
                </a:gridCol>
              </a:tblGrid>
              <a:tr h="216994">
                <a:tc gridSpan="1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EQTL PA 7ª TRANCHE  - LPT Rural - Lote 1 - Erro 9%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271049"/>
                  </a:ext>
                </a:extLst>
              </a:tr>
              <a:tr h="55663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Lote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ODI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Municípios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UC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Trafos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Postes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km AT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km BT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Custo Estimado (R$)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Dias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Equipe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Amostra Sugerida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972944"/>
                  </a:ext>
                </a:extLst>
              </a:tr>
              <a:tr h="21699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Amostras por nº de Estratos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6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19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11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1.341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564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5.771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449,0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26,0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R$ 348.176,00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64624"/>
                  </a:ext>
                </a:extLst>
              </a:tr>
              <a:tr h="21699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5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28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21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1.543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694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7.960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672,8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32,6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R$ 410.576,00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X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997522"/>
                  </a:ext>
                </a:extLst>
              </a:tr>
              <a:tr h="21699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4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44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30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2.163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1.036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12.728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1.067,1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45,9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R$ 472.920,00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9435" marR="9435" marT="943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435" marR="9435" marT="943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697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46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>
          <a:extLst>
            <a:ext uri="{FF2B5EF4-FFF2-40B4-BE49-F238E27FC236}">
              <a16:creationId xmlns:a16="http://schemas.microsoft.com/office/drawing/2014/main" id="{824F7593-E8F5-C5A4-B7BD-A1E4728EA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2">
            <a:extLst>
              <a:ext uri="{FF2B5EF4-FFF2-40B4-BE49-F238E27FC236}">
                <a16:creationId xmlns:a16="http://schemas.microsoft.com/office/drawing/2014/main" id="{9E6280CD-C293-3A10-2A83-F98785179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915" y="205440"/>
            <a:ext cx="10785819" cy="41328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Mapa dos Estratos </a:t>
            </a:r>
            <a:endParaRPr sz="2400">
              <a:solidFill>
                <a:srgbClr val="0070C0"/>
              </a:solidFill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77CA19C-F1E7-17AF-C2E1-6C1D8D70E160}"/>
              </a:ext>
            </a:extLst>
          </p:cNvPr>
          <p:cNvSpPr/>
          <p:nvPr/>
        </p:nvSpPr>
        <p:spPr>
          <a:xfrm>
            <a:off x="1095566" y="1111419"/>
            <a:ext cx="3060000" cy="246638"/>
          </a:xfrm>
          <a:prstGeom prst="rect">
            <a:avLst/>
          </a:prstGeom>
          <a:solidFill>
            <a:srgbClr val="85858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78046ED-574E-33CE-3E81-8521266D40F2}"/>
              </a:ext>
            </a:extLst>
          </p:cNvPr>
          <p:cNvSpPr txBox="1"/>
          <p:nvPr/>
        </p:nvSpPr>
        <p:spPr>
          <a:xfrm>
            <a:off x="1095565" y="1048803"/>
            <a:ext cx="3060001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prstClr val="white"/>
                </a:solidFill>
                <a:latin typeface="Calibri" panose="020F0502020204030204"/>
              </a:rPr>
              <a:t>Estrato 06</a:t>
            </a:r>
            <a:endParaRPr lang="pt-BR" sz="1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E2A011B7-55CB-238C-814B-43250C6C6C8D}"/>
              </a:ext>
            </a:extLst>
          </p:cNvPr>
          <p:cNvSpPr/>
          <p:nvPr/>
        </p:nvSpPr>
        <p:spPr>
          <a:xfrm>
            <a:off x="1082039" y="4374181"/>
            <a:ext cx="3073527" cy="1964791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800F7FC7-6D1F-E0A5-7DBF-2C13B236A06D}"/>
              </a:ext>
            </a:extLst>
          </p:cNvPr>
          <p:cNvSpPr/>
          <p:nvPr/>
        </p:nvSpPr>
        <p:spPr>
          <a:xfrm>
            <a:off x="4824231" y="4393399"/>
            <a:ext cx="3059999" cy="1964791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534BC809-8E8B-DC24-456E-056DE0C0B461}"/>
              </a:ext>
            </a:extLst>
          </p:cNvPr>
          <p:cNvSpPr/>
          <p:nvPr/>
        </p:nvSpPr>
        <p:spPr>
          <a:xfrm>
            <a:off x="8539367" y="4382118"/>
            <a:ext cx="3087056" cy="1964791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FD04AF37-BA73-7C5B-07CA-231839D2A0D9}"/>
              </a:ext>
            </a:extLst>
          </p:cNvPr>
          <p:cNvSpPr txBox="1"/>
          <p:nvPr/>
        </p:nvSpPr>
        <p:spPr>
          <a:xfrm>
            <a:off x="1100586" y="4387080"/>
            <a:ext cx="30414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/>
              <a:t>Projetos: 19</a:t>
            </a:r>
          </a:p>
          <a:p>
            <a:r>
              <a:rPr lang="pt-BR" sz="1200"/>
              <a:t>Municípios a serem inspecionados: 11</a:t>
            </a:r>
          </a:p>
          <a:p>
            <a:r>
              <a:rPr lang="pt-BR" sz="1200"/>
              <a:t>Unidades Consumidoras (UC): 1.341</a:t>
            </a:r>
          </a:p>
          <a:p>
            <a:r>
              <a:rPr lang="pt-BR" sz="1200"/>
              <a:t>Transformadores: 564</a:t>
            </a:r>
          </a:p>
          <a:p>
            <a:r>
              <a:rPr lang="pt-BR" sz="1200"/>
              <a:t>Postes: 5.771</a:t>
            </a:r>
          </a:p>
          <a:p>
            <a:r>
              <a:rPr lang="pt-BR" sz="1200"/>
              <a:t>Extensão de Rede:</a:t>
            </a:r>
          </a:p>
          <a:p>
            <a:r>
              <a:rPr lang="pt-BR" sz="1200"/>
              <a:t>AT: 449,0 km</a:t>
            </a:r>
          </a:p>
          <a:p>
            <a:r>
              <a:rPr lang="pt-BR" sz="1200"/>
              <a:t>BT: 26,0 km</a:t>
            </a:r>
          </a:p>
          <a:p>
            <a:r>
              <a:rPr lang="pt-BR" sz="1200"/>
              <a:t>Custo Estimado Total: R$ 348.176,00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662F958F-54DE-D07C-C2A8-C2E32835D427}"/>
              </a:ext>
            </a:extLst>
          </p:cNvPr>
          <p:cNvSpPr txBox="1"/>
          <p:nvPr/>
        </p:nvSpPr>
        <p:spPr>
          <a:xfrm>
            <a:off x="4810703" y="4427537"/>
            <a:ext cx="30735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/>
              <a:t>Projetos : 28</a:t>
            </a:r>
          </a:p>
          <a:p>
            <a:r>
              <a:rPr lang="pt-BR" sz="1200"/>
              <a:t>Municípios a serem inspecionados: 21</a:t>
            </a:r>
          </a:p>
          <a:p>
            <a:r>
              <a:rPr lang="pt-BR" sz="1200"/>
              <a:t>Unidades Consumidoras (UC): 1.543</a:t>
            </a:r>
          </a:p>
          <a:p>
            <a:r>
              <a:rPr lang="pt-BR" sz="1200"/>
              <a:t>Transformadores: 694</a:t>
            </a:r>
          </a:p>
          <a:p>
            <a:r>
              <a:rPr lang="pt-BR" sz="1200"/>
              <a:t>Postes: 7.960</a:t>
            </a:r>
          </a:p>
          <a:p>
            <a:r>
              <a:rPr lang="pt-BR" sz="1200"/>
              <a:t>Extensão de Rede:</a:t>
            </a:r>
          </a:p>
          <a:p>
            <a:r>
              <a:rPr lang="pt-BR" sz="1200"/>
              <a:t>AT: 672,8 km</a:t>
            </a:r>
          </a:p>
          <a:p>
            <a:r>
              <a:rPr lang="pt-BR" sz="1200"/>
              <a:t>BT: 32,6 km</a:t>
            </a:r>
          </a:p>
          <a:p>
            <a:r>
              <a:rPr lang="pt-BR" sz="1200"/>
              <a:t>Custo Estimado Total: R$ 410.576,00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B719783F-4C68-76F1-5227-57D0E9874A4C}"/>
              </a:ext>
            </a:extLst>
          </p:cNvPr>
          <p:cNvSpPr txBox="1"/>
          <p:nvPr/>
        </p:nvSpPr>
        <p:spPr>
          <a:xfrm>
            <a:off x="8552895" y="4427537"/>
            <a:ext cx="30599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/>
              <a:t>Projetos : 44</a:t>
            </a:r>
          </a:p>
          <a:p>
            <a:r>
              <a:rPr lang="pt-BR" sz="1200"/>
              <a:t>Municípios a serem inspecionados: 30</a:t>
            </a:r>
          </a:p>
          <a:p>
            <a:r>
              <a:rPr lang="pt-BR" sz="1200"/>
              <a:t>Unidades Consumidoras (UC): 2.163</a:t>
            </a:r>
          </a:p>
          <a:p>
            <a:r>
              <a:rPr lang="pt-BR" sz="1200"/>
              <a:t>Transformadores: 1.036</a:t>
            </a:r>
          </a:p>
          <a:p>
            <a:r>
              <a:rPr lang="pt-BR" sz="1200"/>
              <a:t>Postes: 12.728</a:t>
            </a:r>
          </a:p>
          <a:p>
            <a:r>
              <a:rPr lang="pt-BR" sz="1200"/>
              <a:t>Extensão de Rede:</a:t>
            </a:r>
          </a:p>
          <a:p>
            <a:r>
              <a:rPr lang="pt-BR" sz="1200"/>
              <a:t>AT: 1.067,1 km</a:t>
            </a:r>
          </a:p>
          <a:p>
            <a:r>
              <a:rPr lang="pt-BR" sz="1200"/>
              <a:t>BT: 45,9 km</a:t>
            </a:r>
          </a:p>
          <a:p>
            <a:r>
              <a:rPr lang="pt-BR" sz="1200"/>
              <a:t>Custo Estimado Total: R$ 472.920,00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34DB0907-794C-1242-C90D-64D6534AF472}"/>
              </a:ext>
            </a:extLst>
          </p:cNvPr>
          <p:cNvSpPr>
            <a:spLocks noGrp="1"/>
          </p:cNvSpPr>
          <p:nvPr/>
        </p:nvSpPr>
        <p:spPr>
          <a:xfrm>
            <a:off x="1082039" y="733203"/>
            <a:ext cx="6370321" cy="3431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16000" tIns="48000" rIns="120000" bIns="4800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i="0" kern="1200" spc="300">
                <a:solidFill>
                  <a:schemeClr val="tx2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pt-BR" sz="1600" b="1" spc="400">
                <a:solidFill>
                  <a:srgbClr val="00094A"/>
                </a:solidFill>
                <a:latin typeface="Arial"/>
                <a:sym typeface="Arial"/>
              </a:rPr>
              <a:t>2ª amostra -EQTL PA 7ª TRANCHE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07B295C-5B96-814B-CEEB-896BD4F4E28D}"/>
              </a:ext>
            </a:extLst>
          </p:cNvPr>
          <p:cNvSpPr/>
          <p:nvPr/>
        </p:nvSpPr>
        <p:spPr>
          <a:xfrm>
            <a:off x="4824231" y="1135213"/>
            <a:ext cx="3060000" cy="246638"/>
          </a:xfrm>
          <a:prstGeom prst="rect">
            <a:avLst/>
          </a:prstGeom>
          <a:solidFill>
            <a:srgbClr val="85858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6952282-90A2-C8EA-662D-E2AA16DFF072}"/>
              </a:ext>
            </a:extLst>
          </p:cNvPr>
          <p:cNvSpPr txBox="1"/>
          <p:nvPr/>
        </p:nvSpPr>
        <p:spPr>
          <a:xfrm>
            <a:off x="4824232" y="1091724"/>
            <a:ext cx="3059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prstClr val="white"/>
                </a:solidFill>
                <a:latin typeface="Calibri" panose="020F0502020204030204"/>
              </a:rPr>
              <a:t>Estrato 05</a:t>
            </a:r>
            <a:endParaRPr lang="pt-BR" sz="1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AF54554-173D-BB14-9BC8-86F1B4871B35}"/>
              </a:ext>
            </a:extLst>
          </p:cNvPr>
          <p:cNvSpPr/>
          <p:nvPr/>
        </p:nvSpPr>
        <p:spPr>
          <a:xfrm>
            <a:off x="8552896" y="1115400"/>
            <a:ext cx="3060000" cy="246638"/>
          </a:xfrm>
          <a:prstGeom prst="rect">
            <a:avLst/>
          </a:prstGeom>
          <a:solidFill>
            <a:srgbClr val="85858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B891429-76A1-22F4-DA4A-E5C1BBD5ADD3}"/>
              </a:ext>
            </a:extLst>
          </p:cNvPr>
          <p:cNvSpPr txBox="1"/>
          <p:nvPr/>
        </p:nvSpPr>
        <p:spPr>
          <a:xfrm>
            <a:off x="8552896" y="1081794"/>
            <a:ext cx="3059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prstClr val="white"/>
                </a:solidFill>
                <a:latin typeface="Calibri" panose="020F0502020204030204"/>
              </a:rPr>
              <a:t>Estrato 04</a:t>
            </a:r>
            <a:endParaRPr lang="pt-BR" sz="1800" b="1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m 5" descr="Mapa&#10;&#10;O conteúdo gerado por IA pode estar incorreto.">
            <a:extLst>
              <a:ext uri="{FF2B5EF4-FFF2-40B4-BE49-F238E27FC236}">
                <a16:creationId xmlns:a16="http://schemas.microsoft.com/office/drawing/2014/main" id="{1BDD28A8-9D05-3AB8-3982-73DB715D3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39" y="1418135"/>
            <a:ext cx="3060000" cy="2894500"/>
          </a:xfrm>
          <a:prstGeom prst="rect">
            <a:avLst/>
          </a:prstGeom>
        </p:spPr>
      </p:pic>
      <p:pic>
        <p:nvPicPr>
          <p:cNvPr id="8" name="Imagem 7" descr="Mapa&#10;&#10;O conteúdo gerado por IA pode estar incorreto.">
            <a:extLst>
              <a:ext uri="{FF2B5EF4-FFF2-40B4-BE49-F238E27FC236}">
                <a16:creationId xmlns:a16="http://schemas.microsoft.com/office/drawing/2014/main" id="{1A967832-A058-F0F2-C023-A99BFD173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231" y="1418135"/>
            <a:ext cx="3060000" cy="2894500"/>
          </a:xfrm>
          <a:prstGeom prst="rect">
            <a:avLst/>
          </a:prstGeom>
        </p:spPr>
      </p:pic>
      <p:pic>
        <p:nvPicPr>
          <p:cNvPr id="11" name="Imagem 10" descr="Mapa&#10;&#10;O conteúdo gerado por IA pode estar incorreto.">
            <a:extLst>
              <a:ext uri="{FF2B5EF4-FFF2-40B4-BE49-F238E27FC236}">
                <a16:creationId xmlns:a16="http://schemas.microsoft.com/office/drawing/2014/main" id="{9A1CF375-8B3B-E7CF-F864-75BE9D634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423" y="1407520"/>
            <a:ext cx="3060000" cy="289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0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2"/>
          <p:cNvSpPr txBox="1">
            <a:spLocks noGrp="1"/>
          </p:cNvSpPr>
          <p:nvPr>
            <p:ph type="title"/>
          </p:nvPr>
        </p:nvSpPr>
        <p:spPr>
          <a:xfrm>
            <a:off x="965915" y="205440"/>
            <a:ext cx="10785819" cy="41328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Estimativa de Custo Total (R$)</a:t>
            </a:r>
            <a:endParaRPr sz="2400">
              <a:solidFill>
                <a:srgbClr val="0070C0"/>
              </a:solidFill>
            </a:endParaRP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76B33C4E-34ED-0D2C-661D-9E3A5FF204F3}"/>
              </a:ext>
            </a:extLst>
          </p:cNvPr>
          <p:cNvSpPr>
            <a:spLocks noGrp="1"/>
          </p:cNvSpPr>
          <p:nvPr/>
        </p:nvSpPr>
        <p:spPr>
          <a:xfrm>
            <a:off x="1082039" y="733203"/>
            <a:ext cx="8089393" cy="3431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16000" tIns="48000" rIns="120000" bIns="4800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i="0" kern="1200" spc="300">
                <a:solidFill>
                  <a:schemeClr val="tx2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pt-BR" sz="1600" b="1" spc="400">
                <a:solidFill>
                  <a:srgbClr val="00094A"/>
                </a:solidFill>
                <a:latin typeface="Arial"/>
                <a:sym typeface="Arial"/>
              </a:rPr>
              <a:t>1ª amostra –EQUATORIAL 4ª TRANCHE 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4F58041-1C79-915E-BE68-516E5ABB3767}"/>
              </a:ext>
            </a:extLst>
          </p:cNvPr>
          <p:cNvSpPr txBox="1"/>
          <p:nvPr/>
        </p:nvSpPr>
        <p:spPr>
          <a:xfrm>
            <a:off x="1205887" y="2591539"/>
            <a:ext cx="5992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>
                <a:solidFill>
                  <a:schemeClr val="dk1"/>
                </a:solidFill>
                <a:latin typeface="Maven Pro"/>
              </a:rPr>
              <a:t>Investimento total: </a:t>
            </a:r>
            <a:r>
              <a:rPr lang="pt-BR">
                <a:solidFill>
                  <a:schemeClr val="dk1"/>
                </a:solidFill>
                <a:latin typeface="Maven Pro"/>
                <a:sym typeface="Maven Pro"/>
              </a:rPr>
              <a:t>R$ 834.063.960,00 </a:t>
            </a:r>
            <a:endParaRPr lang="pt-BR">
              <a:solidFill>
                <a:schemeClr val="dk1"/>
              </a:solidFill>
              <a:latin typeface="Maven Pro"/>
            </a:endParaRPr>
          </a:p>
          <a:p>
            <a:r>
              <a:rPr lang="pt-BR" b="1">
                <a:solidFill>
                  <a:schemeClr val="dk1"/>
                </a:solidFill>
                <a:latin typeface="Maven Pro"/>
              </a:rPr>
              <a:t>Unidades atendidas: </a:t>
            </a:r>
            <a:r>
              <a:rPr lang="pt-BR">
                <a:solidFill>
                  <a:schemeClr val="dk1"/>
                </a:solidFill>
                <a:latin typeface="Maven Pro"/>
              </a:rPr>
              <a:t>21.587</a:t>
            </a:r>
          </a:p>
          <a:p>
            <a:r>
              <a:rPr lang="pt-BR" b="1">
                <a:solidFill>
                  <a:schemeClr val="dk1"/>
                </a:solidFill>
                <a:latin typeface="Maven Pro"/>
              </a:rPr>
              <a:t>Período previsto de inspeção em campo: </a:t>
            </a:r>
            <a:r>
              <a:rPr lang="pt-BR">
                <a:solidFill>
                  <a:schemeClr val="dk1"/>
                </a:solidFill>
                <a:latin typeface="Maven Pro"/>
              </a:rPr>
              <a:t>30/03 a 10/04/2026</a:t>
            </a:r>
          </a:p>
          <a:p>
            <a:r>
              <a:rPr lang="pt-BR" b="1">
                <a:solidFill>
                  <a:schemeClr val="dk1"/>
                </a:solidFill>
                <a:latin typeface="Maven Pro"/>
              </a:rPr>
              <a:t>Entrega do relatório final prevista</a:t>
            </a:r>
            <a:r>
              <a:rPr lang="pt-BR">
                <a:solidFill>
                  <a:schemeClr val="dk1"/>
                </a:solidFill>
                <a:latin typeface="Maven Pro"/>
              </a:rPr>
              <a:t>: 15/05/2026</a:t>
            </a:r>
          </a:p>
          <a:p>
            <a:pPr marL="380990" indent="-380990" algn="just"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endParaRPr lang="pt-BR">
              <a:solidFill>
                <a:schemeClr val="dk1"/>
              </a:solidFill>
              <a:latin typeface="Maven Pro"/>
              <a:sym typeface="Maven Pro"/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3770C47C-CD9C-B33C-3730-057825DDF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358271"/>
              </p:ext>
            </p:extLst>
          </p:nvPr>
        </p:nvGraphicFramePr>
        <p:xfrm>
          <a:off x="1304097" y="1190837"/>
          <a:ext cx="10264774" cy="1286227"/>
        </p:xfrm>
        <a:graphic>
          <a:graphicData uri="http://schemas.openxmlformats.org/drawingml/2006/table">
            <a:tbl>
              <a:tblPr/>
              <a:tblGrid>
                <a:gridCol w="878941">
                  <a:extLst>
                    <a:ext uri="{9D8B030D-6E8A-4147-A177-3AD203B41FA5}">
                      <a16:colId xmlns:a16="http://schemas.microsoft.com/office/drawing/2014/main" val="3661788983"/>
                    </a:ext>
                  </a:extLst>
                </a:gridCol>
                <a:gridCol w="878941">
                  <a:extLst>
                    <a:ext uri="{9D8B030D-6E8A-4147-A177-3AD203B41FA5}">
                      <a16:colId xmlns:a16="http://schemas.microsoft.com/office/drawing/2014/main" val="1084252449"/>
                    </a:ext>
                  </a:extLst>
                </a:gridCol>
                <a:gridCol w="602702">
                  <a:extLst>
                    <a:ext uri="{9D8B030D-6E8A-4147-A177-3AD203B41FA5}">
                      <a16:colId xmlns:a16="http://schemas.microsoft.com/office/drawing/2014/main" val="411854580"/>
                    </a:ext>
                  </a:extLst>
                </a:gridCol>
                <a:gridCol w="847551">
                  <a:extLst>
                    <a:ext uri="{9D8B030D-6E8A-4147-A177-3AD203B41FA5}">
                      <a16:colId xmlns:a16="http://schemas.microsoft.com/office/drawing/2014/main" val="3516464962"/>
                    </a:ext>
                  </a:extLst>
                </a:gridCol>
                <a:gridCol w="687457">
                  <a:extLst>
                    <a:ext uri="{9D8B030D-6E8A-4147-A177-3AD203B41FA5}">
                      <a16:colId xmlns:a16="http://schemas.microsoft.com/office/drawing/2014/main" val="368793001"/>
                    </a:ext>
                  </a:extLst>
                </a:gridCol>
                <a:gridCol w="781630">
                  <a:extLst>
                    <a:ext uri="{9D8B030D-6E8A-4147-A177-3AD203B41FA5}">
                      <a16:colId xmlns:a16="http://schemas.microsoft.com/office/drawing/2014/main" val="718026231"/>
                    </a:ext>
                  </a:extLst>
                </a:gridCol>
                <a:gridCol w="809881">
                  <a:extLst>
                    <a:ext uri="{9D8B030D-6E8A-4147-A177-3AD203B41FA5}">
                      <a16:colId xmlns:a16="http://schemas.microsoft.com/office/drawing/2014/main" val="2308592451"/>
                    </a:ext>
                  </a:extLst>
                </a:gridCol>
                <a:gridCol w="1261908">
                  <a:extLst>
                    <a:ext uri="{9D8B030D-6E8A-4147-A177-3AD203B41FA5}">
                      <a16:colId xmlns:a16="http://schemas.microsoft.com/office/drawing/2014/main" val="2322082870"/>
                    </a:ext>
                  </a:extLst>
                </a:gridCol>
                <a:gridCol w="1261908">
                  <a:extLst>
                    <a:ext uri="{9D8B030D-6E8A-4147-A177-3AD203B41FA5}">
                      <a16:colId xmlns:a16="http://schemas.microsoft.com/office/drawing/2014/main" val="1314851585"/>
                    </a:ext>
                  </a:extLst>
                </a:gridCol>
                <a:gridCol w="1261908">
                  <a:extLst>
                    <a:ext uri="{9D8B030D-6E8A-4147-A177-3AD203B41FA5}">
                      <a16:colId xmlns:a16="http://schemas.microsoft.com/office/drawing/2014/main" val="3400827379"/>
                    </a:ext>
                  </a:extLst>
                </a:gridCol>
                <a:gridCol w="991947">
                  <a:extLst>
                    <a:ext uri="{9D8B030D-6E8A-4147-A177-3AD203B41FA5}">
                      <a16:colId xmlns:a16="http://schemas.microsoft.com/office/drawing/2014/main" val="3247211220"/>
                    </a:ext>
                  </a:extLst>
                </a:gridCol>
              </a:tblGrid>
              <a:tr h="215936">
                <a:tc gridSpan="1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 EQUATORIAL PA 4ª Tranche 4ª tranche - LPT AmL - Lote 1 - Erro 5%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633324"/>
                  </a:ext>
                </a:extLst>
              </a:tr>
              <a:tr h="41309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Lote</a:t>
                      </a:r>
                    </a:p>
                  </a:txBody>
                  <a:tcPr marL="9389" marR="9389" marT="93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ODI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Municípios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SIGFI 60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SIGFI 180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UC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Custo Estimado 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Dias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Equipe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Amostra Sugerida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336473"/>
                  </a:ext>
                </a:extLst>
              </a:tr>
              <a:tr h="22532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Amostras por nº de Estratos</a:t>
                      </a:r>
                    </a:p>
                  </a:txBody>
                  <a:tcPr marL="9389" marR="9389" marT="93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5</a:t>
                      </a:r>
                    </a:p>
                  </a:txBody>
                  <a:tcPr marL="9389" marR="9389" marT="93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34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7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35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-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35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 R$        200.640,00 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9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4 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9389" marR="9389" marT="93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142261"/>
                  </a:ext>
                </a:extLst>
              </a:tr>
              <a:tr h="21593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4</a:t>
                      </a:r>
                    </a:p>
                  </a:txBody>
                  <a:tcPr marL="9389" marR="9389" marT="93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57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8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59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2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61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 R$        335.040,00 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16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4 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X</a:t>
                      </a:r>
                    </a:p>
                  </a:txBody>
                  <a:tcPr marL="9389" marR="9389" marT="93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274073"/>
                  </a:ext>
                </a:extLst>
              </a:tr>
              <a:tr h="215936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3</a:t>
                      </a:r>
                    </a:p>
                  </a:txBody>
                  <a:tcPr marL="9389" marR="9389" marT="93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70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9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86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87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 R$        450.240,00 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22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4 </a:t>
                      </a:r>
                    </a:p>
                  </a:txBody>
                  <a:tcPr marL="9389" marR="9389" marT="938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9389" marR="9389" marT="938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2044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>
          <a:extLst>
            <a:ext uri="{FF2B5EF4-FFF2-40B4-BE49-F238E27FC236}">
              <a16:creationId xmlns:a16="http://schemas.microsoft.com/office/drawing/2014/main" id="{FDDE1B9C-C3AA-ECBA-4CC4-9FB7B704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2">
            <a:extLst>
              <a:ext uri="{FF2B5EF4-FFF2-40B4-BE49-F238E27FC236}">
                <a16:creationId xmlns:a16="http://schemas.microsoft.com/office/drawing/2014/main" id="{EC4008DB-5D0D-E705-ABA3-D20B46578B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915" y="205440"/>
            <a:ext cx="10785819" cy="41328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Mapa dos Estratos </a:t>
            </a:r>
            <a:endParaRPr sz="2400">
              <a:solidFill>
                <a:srgbClr val="0070C0"/>
              </a:solidFill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2A019DA-D08B-2C7C-D1C2-646A61FE44DF}"/>
              </a:ext>
            </a:extLst>
          </p:cNvPr>
          <p:cNvSpPr/>
          <p:nvPr/>
        </p:nvSpPr>
        <p:spPr>
          <a:xfrm>
            <a:off x="1095565" y="1111419"/>
            <a:ext cx="3502960" cy="246638"/>
          </a:xfrm>
          <a:prstGeom prst="rect">
            <a:avLst/>
          </a:prstGeom>
          <a:solidFill>
            <a:srgbClr val="85858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364BE48-B9A0-12F3-4325-9FFC93FA77D2}"/>
              </a:ext>
            </a:extLst>
          </p:cNvPr>
          <p:cNvSpPr txBox="1"/>
          <p:nvPr/>
        </p:nvSpPr>
        <p:spPr>
          <a:xfrm>
            <a:off x="1070525" y="1050072"/>
            <a:ext cx="352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prstClr val="white"/>
                </a:solidFill>
                <a:latin typeface="Calibri" panose="020F0502020204030204"/>
              </a:rPr>
              <a:t>Estrato 05</a:t>
            </a:r>
            <a:endParaRPr lang="pt-BR" sz="1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6A558798-DBEF-5721-B359-8F426F21B34A}"/>
              </a:ext>
            </a:extLst>
          </p:cNvPr>
          <p:cNvSpPr/>
          <p:nvPr/>
        </p:nvSpPr>
        <p:spPr>
          <a:xfrm>
            <a:off x="923893" y="4089707"/>
            <a:ext cx="3565992" cy="2268328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A278D74A-4862-68C2-EFA1-940A6AE817A4}"/>
              </a:ext>
            </a:extLst>
          </p:cNvPr>
          <p:cNvSpPr txBox="1"/>
          <p:nvPr/>
        </p:nvSpPr>
        <p:spPr>
          <a:xfrm>
            <a:off x="1002531" y="4089708"/>
            <a:ext cx="3528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/>
              <a:t>Projetos: </a:t>
            </a:r>
            <a:r>
              <a:rPr lang="pt-BR" sz="1200"/>
              <a:t>34</a:t>
            </a:r>
          </a:p>
          <a:p>
            <a:r>
              <a:rPr lang="pt-BR" sz="1200" b="1"/>
              <a:t>Municípios a serem inspecionados: </a:t>
            </a:r>
            <a:r>
              <a:rPr lang="pt-BR" sz="1200"/>
              <a:t>7</a:t>
            </a:r>
          </a:p>
          <a:p>
            <a:r>
              <a:rPr lang="pt-BR" sz="1200" b="1"/>
              <a:t>Unidades Consumidoras (UC): </a:t>
            </a:r>
            <a:r>
              <a:rPr lang="pt-BR" sz="1200"/>
              <a:t>35</a:t>
            </a:r>
          </a:p>
          <a:p>
            <a:r>
              <a:rPr lang="pt-BR" sz="1200"/>
              <a:t>SIGFI 60 : 35</a:t>
            </a:r>
          </a:p>
          <a:p>
            <a:r>
              <a:rPr lang="pt-BR" sz="1200"/>
              <a:t>SIGFI 180: 0</a:t>
            </a:r>
          </a:p>
          <a:p>
            <a:r>
              <a:rPr lang="pt-BR" sz="1200" b="1"/>
              <a:t>Custo Estimado Total: </a:t>
            </a:r>
            <a:r>
              <a:rPr lang="pt-BR" sz="1200"/>
              <a:t>R$ 200.640,00</a:t>
            </a:r>
          </a:p>
          <a:p>
            <a:pPr algn="just"/>
            <a:r>
              <a:rPr lang="pt-BR" sz="1200"/>
              <a:t>Região de grande relevância socioambiental, com características ribeirinhas, área isolada e vegetação densa, com presença de Reservas Extrativistas, comunidades quilombolas e localizada próxima a aldeias indígenas.</a:t>
            </a:r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7E74C7E7-B8F8-B210-773C-37B60CD23B81}"/>
              </a:ext>
            </a:extLst>
          </p:cNvPr>
          <p:cNvSpPr>
            <a:spLocks noGrp="1"/>
          </p:cNvSpPr>
          <p:nvPr/>
        </p:nvSpPr>
        <p:spPr>
          <a:xfrm>
            <a:off x="1082039" y="733203"/>
            <a:ext cx="8089393" cy="3431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16000" tIns="48000" rIns="120000" bIns="4800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i="0" kern="1200" spc="300">
                <a:solidFill>
                  <a:schemeClr val="tx2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pt-BR" sz="1600" b="1" spc="400">
                <a:solidFill>
                  <a:srgbClr val="00094A"/>
                </a:solidFill>
                <a:latin typeface="Arial"/>
                <a:sym typeface="Arial"/>
              </a:rPr>
              <a:t>1ª amostra –EQUATORIAL 4ª TRANCHE 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F827164-DE13-294C-CE60-AF0C3BC3A95C}"/>
              </a:ext>
            </a:extLst>
          </p:cNvPr>
          <p:cNvSpPr/>
          <p:nvPr/>
        </p:nvSpPr>
        <p:spPr>
          <a:xfrm>
            <a:off x="4688501" y="1124787"/>
            <a:ext cx="3502960" cy="246638"/>
          </a:xfrm>
          <a:prstGeom prst="rect">
            <a:avLst/>
          </a:prstGeom>
          <a:solidFill>
            <a:srgbClr val="85858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92FD2B4-D000-835F-3C5F-754DEF10D903}"/>
              </a:ext>
            </a:extLst>
          </p:cNvPr>
          <p:cNvSpPr/>
          <p:nvPr/>
        </p:nvSpPr>
        <p:spPr>
          <a:xfrm>
            <a:off x="8306477" y="1124787"/>
            <a:ext cx="3502960" cy="246638"/>
          </a:xfrm>
          <a:prstGeom prst="rect">
            <a:avLst/>
          </a:prstGeom>
          <a:solidFill>
            <a:srgbClr val="85858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B0A2E43-0096-FB69-D397-1312B03CF5B0}"/>
              </a:ext>
            </a:extLst>
          </p:cNvPr>
          <p:cNvSpPr txBox="1"/>
          <p:nvPr/>
        </p:nvSpPr>
        <p:spPr>
          <a:xfrm>
            <a:off x="4688501" y="1052558"/>
            <a:ext cx="350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prstClr val="white"/>
                </a:solidFill>
                <a:latin typeface="Calibri" panose="020F0502020204030204"/>
              </a:rPr>
              <a:t>Estrato 04</a:t>
            </a:r>
            <a:endParaRPr lang="pt-BR" sz="1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1409DC-A654-7A4D-6B42-01B295E32213}"/>
              </a:ext>
            </a:extLst>
          </p:cNvPr>
          <p:cNvSpPr txBox="1"/>
          <p:nvPr/>
        </p:nvSpPr>
        <p:spPr>
          <a:xfrm>
            <a:off x="8318997" y="1076362"/>
            <a:ext cx="350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prstClr val="white"/>
                </a:solidFill>
                <a:latin typeface="Calibri" panose="020F0502020204030204"/>
              </a:rPr>
              <a:t>Estrato 03</a:t>
            </a:r>
            <a:endParaRPr lang="pt-BR" sz="1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044EEE8-A0E0-87C3-ABF4-40F570195622}"/>
              </a:ext>
            </a:extLst>
          </p:cNvPr>
          <p:cNvSpPr txBox="1"/>
          <p:nvPr/>
        </p:nvSpPr>
        <p:spPr>
          <a:xfrm>
            <a:off x="4688501" y="4089707"/>
            <a:ext cx="34937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/>
              <a:t>Projetos: </a:t>
            </a:r>
            <a:r>
              <a:rPr lang="pt-BR" sz="1200"/>
              <a:t>57</a:t>
            </a:r>
          </a:p>
          <a:p>
            <a:r>
              <a:rPr lang="pt-BR" sz="1200" b="1"/>
              <a:t>Municípios a serem inspecionados: </a:t>
            </a:r>
            <a:r>
              <a:rPr lang="pt-BR" sz="1200"/>
              <a:t>8</a:t>
            </a:r>
          </a:p>
          <a:p>
            <a:r>
              <a:rPr lang="pt-BR" sz="1200" b="1"/>
              <a:t>Unidades Consumidoras (UC): </a:t>
            </a:r>
            <a:r>
              <a:rPr lang="pt-BR" sz="1200"/>
              <a:t>61</a:t>
            </a:r>
          </a:p>
          <a:p>
            <a:r>
              <a:rPr lang="pt-BR" sz="1200"/>
              <a:t>SIGFI 60 : 59</a:t>
            </a:r>
          </a:p>
          <a:p>
            <a:r>
              <a:rPr lang="pt-BR" sz="1200"/>
              <a:t>SIGFI 180: 2</a:t>
            </a:r>
          </a:p>
          <a:p>
            <a:r>
              <a:rPr lang="pt-BR" sz="1200" b="1"/>
              <a:t>Custo Estimado Total: </a:t>
            </a:r>
            <a:r>
              <a:rPr lang="pt-BR" sz="1200"/>
              <a:t>R$ 335.040,00</a:t>
            </a:r>
          </a:p>
          <a:p>
            <a:pPr algn="just"/>
            <a:r>
              <a:rPr lang="pt-BR" sz="1200"/>
              <a:t>Região de grande relevância socioambiental, com características ribeirinhas, área isolada e vegetação densa, com presença de Reservas Extrativistas, comunidades quilombolas e localizada próxima a aldeias indígenas.</a:t>
            </a:r>
          </a:p>
          <a:p>
            <a:endParaRPr lang="pt-BR" sz="120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91CB62A-FE6B-DC3F-081C-8B7E83681393}"/>
              </a:ext>
            </a:extLst>
          </p:cNvPr>
          <p:cNvSpPr/>
          <p:nvPr/>
        </p:nvSpPr>
        <p:spPr>
          <a:xfrm>
            <a:off x="4678676" y="4089707"/>
            <a:ext cx="3528000" cy="2251449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D6A85B5-DCD0-F4F6-573A-BC36E05A225D}"/>
              </a:ext>
            </a:extLst>
          </p:cNvPr>
          <p:cNvSpPr/>
          <p:nvPr/>
        </p:nvSpPr>
        <p:spPr>
          <a:xfrm>
            <a:off x="8318997" y="4089707"/>
            <a:ext cx="3565992" cy="2251449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4F39E25-D410-03B1-2A2C-B42E9D079A44}"/>
              </a:ext>
            </a:extLst>
          </p:cNvPr>
          <p:cNvSpPr txBox="1"/>
          <p:nvPr/>
        </p:nvSpPr>
        <p:spPr>
          <a:xfrm>
            <a:off x="8405292" y="4101190"/>
            <a:ext cx="35036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/>
              <a:t>Projetos: </a:t>
            </a:r>
            <a:r>
              <a:rPr lang="pt-BR" sz="1200"/>
              <a:t>70</a:t>
            </a:r>
          </a:p>
          <a:p>
            <a:r>
              <a:rPr lang="pt-BR" sz="1200" b="1"/>
              <a:t>Municípios a serem inspecionados: </a:t>
            </a:r>
            <a:r>
              <a:rPr lang="pt-BR" sz="1200"/>
              <a:t>9</a:t>
            </a:r>
          </a:p>
          <a:p>
            <a:r>
              <a:rPr lang="pt-BR" sz="1200" b="1"/>
              <a:t>Unidades Consumidoras (UC): </a:t>
            </a:r>
            <a:r>
              <a:rPr lang="pt-BR" sz="1200"/>
              <a:t>87</a:t>
            </a:r>
          </a:p>
          <a:p>
            <a:r>
              <a:rPr lang="pt-BR" sz="1200"/>
              <a:t>SIGFI 60 : 86</a:t>
            </a:r>
          </a:p>
          <a:p>
            <a:r>
              <a:rPr lang="pt-BR" sz="1200"/>
              <a:t>SIGFI 180: 1</a:t>
            </a:r>
          </a:p>
          <a:p>
            <a:r>
              <a:rPr lang="pt-BR" sz="1200" b="1"/>
              <a:t>Custo Estimado Total: </a:t>
            </a:r>
            <a:r>
              <a:rPr lang="pt-BR" sz="1200"/>
              <a:t>R$ 450.240,00</a:t>
            </a:r>
          </a:p>
          <a:p>
            <a:pPr algn="just"/>
            <a:r>
              <a:rPr lang="pt-BR" sz="1200"/>
              <a:t>Região de grande relevância socioambiental, com características ribeirinhas, área isolada e vegetação densa, com presença de Reservas Extrativistas, comunidades quilombolas e localizada próxima a aldeias indígenas.</a:t>
            </a:r>
          </a:p>
          <a:p>
            <a:pPr algn="just"/>
            <a:endParaRPr lang="pt-BR" sz="1200"/>
          </a:p>
        </p:txBody>
      </p:sp>
      <p:pic>
        <p:nvPicPr>
          <p:cNvPr id="23" name="Imagem 22" descr="Mapa&#10;&#10;O conteúdo gerado por IA pode estar incorreto.">
            <a:extLst>
              <a:ext uri="{FF2B5EF4-FFF2-40B4-BE49-F238E27FC236}">
                <a16:creationId xmlns:a16="http://schemas.microsoft.com/office/drawing/2014/main" id="{58B9743B-7221-A928-7D1F-B5BB26500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565" y="1427290"/>
            <a:ext cx="3394320" cy="2556000"/>
          </a:xfrm>
          <a:prstGeom prst="rect">
            <a:avLst/>
          </a:prstGeom>
        </p:spPr>
      </p:pic>
      <p:pic>
        <p:nvPicPr>
          <p:cNvPr id="26" name="Imagem 25" descr="Mapa&#10;&#10;O conteúdo gerado por IA pode estar incorreto.">
            <a:extLst>
              <a:ext uri="{FF2B5EF4-FFF2-40B4-BE49-F238E27FC236}">
                <a16:creationId xmlns:a16="http://schemas.microsoft.com/office/drawing/2014/main" id="{3D219B0C-AAB5-E029-0EE2-1A9C19A1A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676" y="1419404"/>
            <a:ext cx="3527999" cy="2563886"/>
          </a:xfrm>
          <a:prstGeom prst="rect">
            <a:avLst/>
          </a:prstGeom>
        </p:spPr>
      </p:pic>
      <p:pic>
        <p:nvPicPr>
          <p:cNvPr id="29" name="Imagem 28" descr="Mapa&#10;&#10;O conteúdo gerado por IA pode estar incorreto.">
            <a:extLst>
              <a:ext uri="{FF2B5EF4-FFF2-40B4-BE49-F238E27FC236}">
                <a16:creationId xmlns:a16="http://schemas.microsoft.com/office/drawing/2014/main" id="{319F3033-EAAC-FC63-1537-77C5A521D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211" y="1419404"/>
            <a:ext cx="3475226" cy="256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80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2"/>
          <p:cNvSpPr txBox="1">
            <a:spLocks noGrp="1"/>
          </p:cNvSpPr>
          <p:nvPr>
            <p:ph type="title"/>
          </p:nvPr>
        </p:nvSpPr>
        <p:spPr>
          <a:xfrm>
            <a:off x="965915" y="205440"/>
            <a:ext cx="10785819" cy="41328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Estimativa de Custo Total (R$)</a:t>
            </a:r>
            <a:endParaRPr sz="2400">
              <a:solidFill>
                <a:srgbClr val="0070C0"/>
              </a:solidFill>
            </a:endParaRP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76B33C4E-34ED-0D2C-661D-9E3A5FF204F3}"/>
              </a:ext>
            </a:extLst>
          </p:cNvPr>
          <p:cNvSpPr>
            <a:spLocks noGrp="1"/>
          </p:cNvSpPr>
          <p:nvPr/>
        </p:nvSpPr>
        <p:spPr>
          <a:xfrm>
            <a:off x="1082039" y="733203"/>
            <a:ext cx="8089393" cy="3431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16000" tIns="48000" rIns="120000" bIns="4800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i="0" kern="1200" spc="300">
                <a:solidFill>
                  <a:schemeClr val="tx2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pt-BR" sz="1600" b="1" spc="400">
                <a:solidFill>
                  <a:srgbClr val="00094A"/>
                </a:solidFill>
                <a:latin typeface="Arial"/>
                <a:sym typeface="Arial"/>
              </a:rPr>
              <a:t>1ª amostra –EQUATORIAL PI 8ª TRANCHE 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E3F806D-E25D-D603-2E3C-5CC1F52B784D}"/>
              </a:ext>
            </a:extLst>
          </p:cNvPr>
          <p:cNvSpPr txBox="1"/>
          <p:nvPr/>
        </p:nvSpPr>
        <p:spPr>
          <a:xfrm>
            <a:off x="1297327" y="2722253"/>
            <a:ext cx="5992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>
                <a:solidFill>
                  <a:schemeClr val="dk1"/>
                </a:solidFill>
                <a:latin typeface="Maven Pro"/>
              </a:rPr>
              <a:t>Investimento total: </a:t>
            </a:r>
            <a:r>
              <a:rPr lang="pt-BR">
                <a:solidFill>
                  <a:schemeClr val="dk1"/>
                </a:solidFill>
                <a:latin typeface="Maven Pro"/>
                <a:sym typeface="Maven Pro"/>
              </a:rPr>
              <a:t>R$ 61.020.620,00</a:t>
            </a:r>
            <a:endParaRPr lang="pt-BR">
              <a:solidFill>
                <a:schemeClr val="dk1"/>
              </a:solidFill>
              <a:latin typeface="Maven Pro"/>
            </a:endParaRPr>
          </a:p>
          <a:p>
            <a:r>
              <a:rPr lang="pt-BR" b="1">
                <a:solidFill>
                  <a:schemeClr val="dk1"/>
                </a:solidFill>
                <a:latin typeface="Maven Pro"/>
              </a:rPr>
              <a:t>Unidades atendidas: </a:t>
            </a:r>
            <a:r>
              <a:rPr lang="pt-BR">
                <a:solidFill>
                  <a:schemeClr val="dk1"/>
                </a:solidFill>
                <a:latin typeface="Maven Pro"/>
              </a:rPr>
              <a:t>1.717</a:t>
            </a:r>
          </a:p>
          <a:p>
            <a:r>
              <a:rPr lang="pt-BR" b="1">
                <a:solidFill>
                  <a:schemeClr val="dk1"/>
                </a:solidFill>
                <a:latin typeface="Maven Pro"/>
              </a:rPr>
              <a:t>Período previsto de inspeção em campo: </a:t>
            </a:r>
            <a:r>
              <a:rPr lang="pt-BR">
                <a:solidFill>
                  <a:schemeClr val="dk1"/>
                </a:solidFill>
                <a:latin typeface="Maven Pro"/>
              </a:rPr>
              <a:t>30/03 a 10/04/2026</a:t>
            </a:r>
          </a:p>
          <a:p>
            <a:r>
              <a:rPr lang="pt-BR" b="1">
                <a:solidFill>
                  <a:schemeClr val="dk1"/>
                </a:solidFill>
                <a:latin typeface="Maven Pro"/>
              </a:rPr>
              <a:t>Entrega do relatório final prevista</a:t>
            </a:r>
            <a:r>
              <a:rPr lang="pt-BR">
                <a:solidFill>
                  <a:schemeClr val="dk1"/>
                </a:solidFill>
                <a:latin typeface="Maven Pro"/>
              </a:rPr>
              <a:t>: 15/05/2026</a:t>
            </a:r>
          </a:p>
          <a:p>
            <a:pPr marL="380990" indent="-380990" algn="just"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endParaRPr lang="pt-BR">
              <a:solidFill>
                <a:schemeClr val="dk1"/>
              </a:solidFill>
              <a:latin typeface="Maven Pro"/>
              <a:sym typeface="Maven Pro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8C21712-6B83-6BEA-9F57-55AEA7231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752575"/>
              </p:ext>
            </p:extLst>
          </p:nvPr>
        </p:nvGraphicFramePr>
        <p:xfrm>
          <a:off x="1416199" y="1246845"/>
          <a:ext cx="9651998" cy="1304925"/>
        </p:xfrm>
        <a:graphic>
          <a:graphicData uri="http://schemas.openxmlformats.org/drawingml/2006/table">
            <a:tbl>
              <a:tblPr/>
              <a:tblGrid>
                <a:gridCol w="891934">
                  <a:extLst>
                    <a:ext uri="{9D8B030D-6E8A-4147-A177-3AD203B41FA5}">
                      <a16:colId xmlns:a16="http://schemas.microsoft.com/office/drawing/2014/main" val="3932036816"/>
                    </a:ext>
                  </a:extLst>
                </a:gridCol>
                <a:gridCol w="891934">
                  <a:extLst>
                    <a:ext uri="{9D8B030D-6E8A-4147-A177-3AD203B41FA5}">
                      <a16:colId xmlns:a16="http://schemas.microsoft.com/office/drawing/2014/main" val="3625937193"/>
                    </a:ext>
                  </a:extLst>
                </a:gridCol>
                <a:gridCol w="611612">
                  <a:extLst>
                    <a:ext uri="{9D8B030D-6E8A-4147-A177-3AD203B41FA5}">
                      <a16:colId xmlns:a16="http://schemas.microsoft.com/office/drawing/2014/main" val="278025992"/>
                    </a:ext>
                  </a:extLst>
                </a:gridCol>
                <a:gridCol w="860079">
                  <a:extLst>
                    <a:ext uri="{9D8B030D-6E8A-4147-A177-3AD203B41FA5}">
                      <a16:colId xmlns:a16="http://schemas.microsoft.com/office/drawing/2014/main" val="991530224"/>
                    </a:ext>
                  </a:extLst>
                </a:gridCol>
                <a:gridCol w="697620">
                  <a:extLst>
                    <a:ext uri="{9D8B030D-6E8A-4147-A177-3AD203B41FA5}">
                      <a16:colId xmlns:a16="http://schemas.microsoft.com/office/drawing/2014/main" val="2186487192"/>
                    </a:ext>
                  </a:extLst>
                </a:gridCol>
                <a:gridCol w="793184">
                  <a:extLst>
                    <a:ext uri="{9D8B030D-6E8A-4147-A177-3AD203B41FA5}">
                      <a16:colId xmlns:a16="http://schemas.microsoft.com/office/drawing/2014/main" val="487461267"/>
                    </a:ext>
                  </a:extLst>
                </a:gridCol>
                <a:gridCol w="821853">
                  <a:extLst>
                    <a:ext uri="{9D8B030D-6E8A-4147-A177-3AD203B41FA5}">
                      <a16:colId xmlns:a16="http://schemas.microsoft.com/office/drawing/2014/main" val="2409983260"/>
                    </a:ext>
                  </a:extLst>
                </a:gridCol>
                <a:gridCol w="1280562">
                  <a:extLst>
                    <a:ext uri="{9D8B030D-6E8A-4147-A177-3AD203B41FA5}">
                      <a16:colId xmlns:a16="http://schemas.microsoft.com/office/drawing/2014/main" val="2168125455"/>
                    </a:ext>
                  </a:extLst>
                </a:gridCol>
                <a:gridCol w="821853">
                  <a:extLst>
                    <a:ext uri="{9D8B030D-6E8A-4147-A177-3AD203B41FA5}">
                      <a16:colId xmlns:a16="http://schemas.microsoft.com/office/drawing/2014/main" val="354157234"/>
                    </a:ext>
                  </a:extLst>
                </a:gridCol>
                <a:gridCol w="821853">
                  <a:extLst>
                    <a:ext uri="{9D8B030D-6E8A-4147-A177-3AD203B41FA5}">
                      <a16:colId xmlns:a16="http://schemas.microsoft.com/office/drawing/2014/main" val="2427124332"/>
                    </a:ext>
                  </a:extLst>
                </a:gridCol>
                <a:gridCol w="1159514">
                  <a:extLst>
                    <a:ext uri="{9D8B030D-6E8A-4147-A177-3AD203B41FA5}">
                      <a16:colId xmlns:a16="http://schemas.microsoft.com/office/drawing/2014/main" val="3512703342"/>
                    </a:ext>
                  </a:extLst>
                </a:gridCol>
              </a:tblGrid>
              <a:tr h="219075">
                <a:tc gridSpan="11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 EQUATORIAL PI 8ª Tranche  - LPT Rural - Lote 1 - Erro 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475117"/>
                  </a:ext>
                </a:extLst>
              </a:tr>
              <a:tr h="419100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Lote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ODI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Municípios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SIGFI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SIGFI 180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UC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Custo Estimado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Dias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Equipe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Amostra Sugerida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529347"/>
                  </a:ext>
                </a:extLst>
              </a:tr>
              <a:tr h="2286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Amostras por nº de Estratos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-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 R$          66.240,00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17771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-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 R$          66.240,00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0434913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-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 R$        104.580,32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3516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>
          <a:extLst>
            <a:ext uri="{FF2B5EF4-FFF2-40B4-BE49-F238E27FC236}">
              <a16:creationId xmlns:a16="http://schemas.microsoft.com/office/drawing/2014/main" id="{FDDE1B9C-C3AA-ECBA-4CC4-9FB7B704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2">
            <a:extLst>
              <a:ext uri="{FF2B5EF4-FFF2-40B4-BE49-F238E27FC236}">
                <a16:creationId xmlns:a16="http://schemas.microsoft.com/office/drawing/2014/main" id="{EC4008DB-5D0D-E705-ABA3-D20B46578B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915" y="205440"/>
            <a:ext cx="10785819" cy="41328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Mapa dos Estratos </a:t>
            </a:r>
            <a:endParaRPr sz="2400">
              <a:solidFill>
                <a:srgbClr val="0070C0"/>
              </a:solidFill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2A019DA-D08B-2C7C-D1C2-646A61FE44DF}"/>
              </a:ext>
            </a:extLst>
          </p:cNvPr>
          <p:cNvSpPr/>
          <p:nvPr/>
        </p:nvSpPr>
        <p:spPr>
          <a:xfrm>
            <a:off x="1095565" y="1111419"/>
            <a:ext cx="3502960" cy="246638"/>
          </a:xfrm>
          <a:prstGeom prst="rect">
            <a:avLst/>
          </a:prstGeom>
          <a:solidFill>
            <a:srgbClr val="85858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364BE48-B9A0-12F3-4325-9FFC93FA77D2}"/>
              </a:ext>
            </a:extLst>
          </p:cNvPr>
          <p:cNvSpPr txBox="1"/>
          <p:nvPr/>
        </p:nvSpPr>
        <p:spPr>
          <a:xfrm>
            <a:off x="1070525" y="1050072"/>
            <a:ext cx="352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prstClr val="white"/>
                </a:solidFill>
                <a:latin typeface="Calibri" panose="020F0502020204030204"/>
              </a:rPr>
              <a:t>Estrato 05</a:t>
            </a:r>
            <a:endParaRPr lang="pt-BR" sz="1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6A558798-DBEF-5721-B359-8F426F21B34A}"/>
              </a:ext>
            </a:extLst>
          </p:cNvPr>
          <p:cNvSpPr/>
          <p:nvPr/>
        </p:nvSpPr>
        <p:spPr>
          <a:xfrm>
            <a:off x="1070524" y="4531392"/>
            <a:ext cx="3502961" cy="1826643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A278D74A-4862-68C2-EFA1-940A6AE817A4}"/>
              </a:ext>
            </a:extLst>
          </p:cNvPr>
          <p:cNvSpPr txBox="1"/>
          <p:nvPr/>
        </p:nvSpPr>
        <p:spPr>
          <a:xfrm>
            <a:off x="1002750" y="4547341"/>
            <a:ext cx="3528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/>
              <a:t>Projetos: </a:t>
            </a:r>
            <a:r>
              <a:rPr lang="pt-BR" sz="1200"/>
              <a:t>6</a:t>
            </a:r>
          </a:p>
          <a:p>
            <a:r>
              <a:rPr lang="pt-BR" sz="1200" b="1"/>
              <a:t>Municípios a serem inspecionados: </a:t>
            </a:r>
            <a:r>
              <a:rPr lang="pt-BR" sz="1200"/>
              <a:t>6</a:t>
            </a:r>
          </a:p>
          <a:p>
            <a:r>
              <a:rPr lang="pt-BR" sz="1200" b="1"/>
              <a:t>Unidades Consumidoras (UC): </a:t>
            </a:r>
            <a:r>
              <a:rPr lang="pt-BR" sz="1200"/>
              <a:t>14</a:t>
            </a:r>
          </a:p>
          <a:p>
            <a:r>
              <a:rPr lang="pt-BR" sz="1200"/>
              <a:t>SIGFI 60 : 14</a:t>
            </a:r>
          </a:p>
          <a:p>
            <a:r>
              <a:rPr lang="pt-BR" sz="1200"/>
              <a:t>SIGFI 180: 0</a:t>
            </a:r>
          </a:p>
          <a:p>
            <a:r>
              <a:rPr lang="pt-BR" sz="1200" b="1"/>
              <a:t>Custo Estimado Total: </a:t>
            </a:r>
            <a:r>
              <a:rPr lang="pt-BR" sz="1200"/>
              <a:t>R$ 66.240,00</a:t>
            </a:r>
          </a:p>
          <a:p>
            <a:pPr algn="just"/>
            <a:r>
              <a:rPr lang="pt-BR" sz="1200"/>
              <a:t>Região com presença de Reservas Extrativistas e comunidades quilombolas.</a:t>
            </a:r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7E74C7E7-B8F8-B210-773C-37B60CD23B81}"/>
              </a:ext>
            </a:extLst>
          </p:cNvPr>
          <p:cNvSpPr>
            <a:spLocks noGrp="1"/>
          </p:cNvSpPr>
          <p:nvPr/>
        </p:nvSpPr>
        <p:spPr>
          <a:xfrm>
            <a:off x="1082039" y="733203"/>
            <a:ext cx="8089393" cy="3431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16000" tIns="48000" rIns="120000" bIns="4800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i="0" kern="1200" spc="300">
                <a:solidFill>
                  <a:schemeClr val="tx2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pt-BR" sz="1600" b="1" spc="400">
                <a:solidFill>
                  <a:srgbClr val="00094A"/>
                </a:solidFill>
                <a:latin typeface="Arial"/>
                <a:sym typeface="Arial"/>
              </a:rPr>
              <a:t>1ª amostra –EQUATORIAL PI 8ª TRANCHE  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F827164-DE13-294C-CE60-AF0C3BC3A95C}"/>
              </a:ext>
            </a:extLst>
          </p:cNvPr>
          <p:cNvSpPr/>
          <p:nvPr/>
        </p:nvSpPr>
        <p:spPr>
          <a:xfrm>
            <a:off x="4688501" y="1124787"/>
            <a:ext cx="3502960" cy="246638"/>
          </a:xfrm>
          <a:prstGeom prst="rect">
            <a:avLst/>
          </a:prstGeom>
          <a:solidFill>
            <a:srgbClr val="85858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D92FD2B4-D000-835F-3C5F-754DEF10D903}"/>
              </a:ext>
            </a:extLst>
          </p:cNvPr>
          <p:cNvSpPr/>
          <p:nvPr/>
        </p:nvSpPr>
        <p:spPr>
          <a:xfrm>
            <a:off x="8306477" y="1124787"/>
            <a:ext cx="3502960" cy="246638"/>
          </a:xfrm>
          <a:prstGeom prst="rect">
            <a:avLst/>
          </a:prstGeom>
          <a:solidFill>
            <a:srgbClr val="85858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B0A2E43-0096-FB69-D397-1312B03CF5B0}"/>
              </a:ext>
            </a:extLst>
          </p:cNvPr>
          <p:cNvSpPr txBox="1"/>
          <p:nvPr/>
        </p:nvSpPr>
        <p:spPr>
          <a:xfrm>
            <a:off x="4688501" y="1052558"/>
            <a:ext cx="350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prstClr val="white"/>
                </a:solidFill>
                <a:latin typeface="Calibri" panose="020F0502020204030204"/>
              </a:rPr>
              <a:t>Estrato 04</a:t>
            </a:r>
            <a:endParaRPr lang="pt-BR" sz="1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1409DC-A654-7A4D-6B42-01B295E32213}"/>
              </a:ext>
            </a:extLst>
          </p:cNvPr>
          <p:cNvSpPr txBox="1"/>
          <p:nvPr/>
        </p:nvSpPr>
        <p:spPr>
          <a:xfrm>
            <a:off x="8318997" y="1076362"/>
            <a:ext cx="3502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prstClr val="white"/>
                </a:solidFill>
                <a:latin typeface="Calibri" panose="020F0502020204030204"/>
              </a:rPr>
              <a:t>Estrato 03</a:t>
            </a:r>
            <a:endParaRPr lang="pt-BR" sz="1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044EEE8-A0E0-87C3-ABF4-40F570195622}"/>
              </a:ext>
            </a:extLst>
          </p:cNvPr>
          <p:cNvSpPr txBox="1"/>
          <p:nvPr/>
        </p:nvSpPr>
        <p:spPr>
          <a:xfrm>
            <a:off x="4724845" y="4547341"/>
            <a:ext cx="34937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/>
              <a:t>Projetos: </a:t>
            </a:r>
            <a:r>
              <a:rPr lang="pt-BR" sz="1200"/>
              <a:t>6</a:t>
            </a:r>
          </a:p>
          <a:p>
            <a:r>
              <a:rPr lang="pt-BR" sz="1200" b="1"/>
              <a:t>Municípios a serem inspecionados: </a:t>
            </a:r>
            <a:r>
              <a:rPr lang="pt-BR" sz="1200"/>
              <a:t>6</a:t>
            </a:r>
          </a:p>
          <a:p>
            <a:r>
              <a:rPr lang="pt-BR" sz="1200" b="1"/>
              <a:t>Unidades Consumidoras (UC): </a:t>
            </a:r>
            <a:r>
              <a:rPr lang="pt-BR" sz="1200"/>
              <a:t>12</a:t>
            </a:r>
          </a:p>
          <a:p>
            <a:r>
              <a:rPr lang="pt-BR" sz="1200"/>
              <a:t>SIGFI 60 : 12</a:t>
            </a:r>
          </a:p>
          <a:p>
            <a:r>
              <a:rPr lang="pt-BR" sz="1200"/>
              <a:t>SIGFI 180: 0</a:t>
            </a:r>
          </a:p>
          <a:p>
            <a:r>
              <a:rPr lang="pt-BR" sz="1200" b="1"/>
              <a:t>Custo Estimado Total: </a:t>
            </a:r>
            <a:r>
              <a:rPr lang="pt-BR" sz="1200"/>
              <a:t>R$ 66.640,00</a:t>
            </a:r>
          </a:p>
          <a:p>
            <a:pPr algn="just"/>
            <a:r>
              <a:rPr lang="pt-BR" sz="1200"/>
              <a:t>Região com presença de Reservas Extrativistas e comunidades quilombolas.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91CB62A-FE6B-DC3F-081C-8B7E83681393}"/>
              </a:ext>
            </a:extLst>
          </p:cNvPr>
          <p:cNvSpPr/>
          <p:nvPr/>
        </p:nvSpPr>
        <p:spPr>
          <a:xfrm>
            <a:off x="4678676" y="4531392"/>
            <a:ext cx="3528000" cy="1809764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D6A85B5-DCD0-F4F6-573A-BC36E05A225D}"/>
              </a:ext>
            </a:extLst>
          </p:cNvPr>
          <p:cNvSpPr/>
          <p:nvPr/>
        </p:nvSpPr>
        <p:spPr>
          <a:xfrm>
            <a:off x="8318997" y="4531392"/>
            <a:ext cx="3432737" cy="1809764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4F39E25-D410-03B1-2A2C-B42E9D079A44}"/>
              </a:ext>
            </a:extLst>
          </p:cNvPr>
          <p:cNvSpPr txBox="1"/>
          <p:nvPr/>
        </p:nvSpPr>
        <p:spPr>
          <a:xfrm>
            <a:off x="8327487" y="4559111"/>
            <a:ext cx="35036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/>
              <a:t>Projetos: </a:t>
            </a:r>
            <a:r>
              <a:rPr lang="pt-BR" sz="1200"/>
              <a:t>7</a:t>
            </a:r>
          </a:p>
          <a:p>
            <a:r>
              <a:rPr lang="pt-BR" sz="1200" b="1"/>
              <a:t>Municípios a serem inspecionados: </a:t>
            </a:r>
            <a:r>
              <a:rPr lang="pt-BR" sz="1200"/>
              <a:t>7</a:t>
            </a:r>
          </a:p>
          <a:p>
            <a:r>
              <a:rPr lang="pt-BR" sz="1200" b="1"/>
              <a:t>Unidades Consumidoras (UC): </a:t>
            </a:r>
            <a:r>
              <a:rPr lang="pt-BR" sz="1200"/>
              <a:t>14</a:t>
            </a:r>
          </a:p>
          <a:p>
            <a:r>
              <a:rPr lang="pt-BR" sz="1200"/>
              <a:t>SIGFI 60 : 14</a:t>
            </a:r>
          </a:p>
          <a:p>
            <a:r>
              <a:rPr lang="pt-BR" sz="1200"/>
              <a:t>SIGFI 180: 0</a:t>
            </a:r>
          </a:p>
          <a:p>
            <a:r>
              <a:rPr lang="pt-BR" sz="1200" b="1"/>
              <a:t>Custo Estimado Total: </a:t>
            </a:r>
            <a:r>
              <a:rPr lang="pt-BR" sz="1200"/>
              <a:t>R$ 104.580,00</a:t>
            </a:r>
          </a:p>
          <a:p>
            <a:pPr algn="just"/>
            <a:r>
              <a:rPr lang="pt-BR" sz="1200"/>
              <a:t>Região com presença de Reservas Extrativistas e comunidades quilombolas.</a:t>
            </a:r>
          </a:p>
        </p:txBody>
      </p:sp>
      <p:pic>
        <p:nvPicPr>
          <p:cNvPr id="4" name="Imagem 3" descr="Mapa&#10;&#10;O conteúdo gerado por IA pode estar incorreto.">
            <a:extLst>
              <a:ext uri="{FF2B5EF4-FFF2-40B4-BE49-F238E27FC236}">
                <a16:creationId xmlns:a16="http://schemas.microsoft.com/office/drawing/2014/main" id="{E5F749CB-AC95-ACFE-1746-5062F1526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574" y="1419404"/>
            <a:ext cx="3485911" cy="3060000"/>
          </a:xfrm>
          <a:prstGeom prst="rect">
            <a:avLst/>
          </a:prstGeom>
        </p:spPr>
      </p:pic>
      <p:pic>
        <p:nvPicPr>
          <p:cNvPr id="6" name="Imagem 5" descr="Mapa&#10;&#10;O conteúdo gerado por IA pode estar incorreto.">
            <a:extLst>
              <a:ext uri="{FF2B5EF4-FFF2-40B4-BE49-F238E27FC236}">
                <a16:creationId xmlns:a16="http://schemas.microsoft.com/office/drawing/2014/main" id="{A759452B-9F8D-7E9E-CC06-732B17888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541" y="1419404"/>
            <a:ext cx="3485639" cy="3060000"/>
          </a:xfrm>
          <a:prstGeom prst="rect">
            <a:avLst/>
          </a:prstGeom>
        </p:spPr>
      </p:pic>
      <p:pic>
        <p:nvPicPr>
          <p:cNvPr id="8" name="Imagem 7" descr="Mapa&#10;&#10;O conteúdo gerado por IA pode estar incorreto.">
            <a:extLst>
              <a:ext uri="{FF2B5EF4-FFF2-40B4-BE49-F238E27FC236}">
                <a16:creationId xmlns:a16="http://schemas.microsoft.com/office/drawing/2014/main" id="{BD2A8C83-BBBF-D2CB-67BC-B625BDAC5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235" y="1381571"/>
            <a:ext cx="3412499" cy="3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782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>
          <a:extLst>
            <a:ext uri="{FF2B5EF4-FFF2-40B4-BE49-F238E27FC236}">
              <a16:creationId xmlns:a16="http://schemas.microsoft.com/office/drawing/2014/main" id="{948C4F2C-9B7A-B05E-534F-473FD30E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2">
            <a:extLst>
              <a:ext uri="{FF2B5EF4-FFF2-40B4-BE49-F238E27FC236}">
                <a16:creationId xmlns:a16="http://schemas.microsoft.com/office/drawing/2014/main" id="{B97A6136-FECA-E2AE-D191-4AC5A5F7BC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915" y="205440"/>
            <a:ext cx="10785819" cy="41328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Estimativa de Custo Total (R$)</a:t>
            </a:r>
            <a:endParaRPr sz="2400">
              <a:solidFill>
                <a:srgbClr val="0070C0"/>
              </a:solidFill>
            </a:endParaRP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DF125EE0-958D-CC9E-3DA0-B906FDA9AB5A}"/>
              </a:ext>
            </a:extLst>
          </p:cNvPr>
          <p:cNvSpPr>
            <a:spLocks noGrp="1"/>
          </p:cNvSpPr>
          <p:nvPr/>
        </p:nvSpPr>
        <p:spPr>
          <a:xfrm>
            <a:off x="1082039" y="733202"/>
            <a:ext cx="9762745" cy="3431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16000" tIns="48000" rIns="120000" bIns="4800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i="0" kern="1200" spc="300">
                <a:solidFill>
                  <a:schemeClr val="tx2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pt-BR" sz="1600" b="1" spc="400">
                <a:solidFill>
                  <a:srgbClr val="00094A"/>
                </a:solidFill>
                <a:latin typeface="Arial"/>
                <a:sym typeface="Arial"/>
              </a:rPr>
              <a:t>1ª, 2ª e 3ª amostra -Energisa Tocantins – 2ª e 3ª Tranche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8DCF7F4-1061-CBCA-95C5-52ABEBCE648A}"/>
              </a:ext>
            </a:extLst>
          </p:cNvPr>
          <p:cNvSpPr txBox="1"/>
          <p:nvPr/>
        </p:nvSpPr>
        <p:spPr>
          <a:xfrm>
            <a:off x="1282911" y="4116919"/>
            <a:ext cx="10909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>
                <a:solidFill>
                  <a:schemeClr val="dk1"/>
                </a:solidFill>
                <a:latin typeface="Maven Pro"/>
              </a:rPr>
              <a:t>Período previsto de inspeção em campo: </a:t>
            </a:r>
            <a:r>
              <a:rPr lang="pt-BR">
                <a:solidFill>
                  <a:schemeClr val="dk1"/>
                </a:solidFill>
                <a:latin typeface="Maven Pro"/>
              </a:rPr>
              <a:t>x/x a x/x/2026</a:t>
            </a:r>
          </a:p>
          <a:p>
            <a:r>
              <a:rPr lang="pt-BR" b="1">
                <a:solidFill>
                  <a:schemeClr val="dk1"/>
                </a:solidFill>
                <a:latin typeface="Maven Pro"/>
              </a:rPr>
              <a:t>Entrega do relatório final prevista</a:t>
            </a:r>
            <a:r>
              <a:rPr lang="pt-BR">
                <a:solidFill>
                  <a:schemeClr val="dk1"/>
                </a:solidFill>
                <a:latin typeface="Maven Pro"/>
              </a:rPr>
              <a:t>: x/x/2026</a:t>
            </a:r>
            <a:endParaRPr lang="pt-BR">
              <a:solidFill>
                <a:schemeClr val="dk1"/>
              </a:solidFill>
              <a:latin typeface="Maven Pro"/>
              <a:sym typeface="Maven Pro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44E08A4A-4367-243F-E815-931BA20D208A}"/>
              </a:ext>
            </a:extLst>
          </p:cNvPr>
          <p:cNvGraphicFramePr>
            <a:graphicFrameLocks noGrp="1"/>
          </p:cNvGraphicFramePr>
          <p:nvPr/>
        </p:nvGraphicFramePr>
        <p:xfrm>
          <a:off x="1155637" y="1272446"/>
          <a:ext cx="10264775" cy="1205379"/>
        </p:xfrm>
        <a:graphic>
          <a:graphicData uri="http://schemas.openxmlformats.org/drawingml/2006/table">
            <a:tbl>
              <a:tblPr/>
              <a:tblGrid>
                <a:gridCol w="824007">
                  <a:extLst>
                    <a:ext uri="{9D8B030D-6E8A-4147-A177-3AD203B41FA5}">
                      <a16:colId xmlns:a16="http://schemas.microsoft.com/office/drawing/2014/main" val="3735974020"/>
                    </a:ext>
                  </a:extLst>
                </a:gridCol>
                <a:gridCol w="821065">
                  <a:extLst>
                    <a:ext uri="{9D8B030D-6E8A-4147-A177-3AD203B41FA5}">
                      <a16:colId xmlns:a16="http://schemas.microsoft.com/office/drawing/2014/main" val="1348988996"/>
                    </a:ext>
                  </a:extLst>
                </a:gridCol>
                <a:gridCol w="565033">
                  <a:extLst>
                    <a:ext uri="{9D8B030D-6E8A-4147-A177-3AD203B41FA5}">
                      <a16:colId xmlns:a16="http://schemas.microsoft.com/office/drawing/2014/main" val="556998123"/>
                    </a:ext>
                  </a:extLst>
                </a:gridCol>
                <a:gridCol w="794578">
                  <a:extLst>
                    <a:ext uri="{9D8B030D-6E8A-4147-A177-3AD203B41FA5}">
                      <a16:colId xmlns:a16="http://schemas.microsoft.com/office/drawing/2014/main" val="4210770356"/>
                    </a:ext>
                  </a:extLst>
                </a:gridCol>
                <a:gridCol w="644491">
                  <a:extLst>
                    <a:ext uri="{9D8B030D-6E8A-4147-A177-3AD203B41FA5}">
                      <a16:colId xmlns:a16="http://schemas.microsoft.com/office/drawing/2014/main" val="865131793"/>
                    </a:ext>
                  </a:extLst>
                </a:gridCol>
                <a:gridCol w="644491">
                  <a:extLst>
                    <a:ext uri="{9D8B030D-6E8A-4147-A177-3AD203B41FA5}">
                      <a16:colId xmlns:a16="http://schemas.microsoft.com/office/drawing/2014/main" val="3829053626"/>
                    </a:ext>
                  </a:extLst>
                </a:gridCol>
                <a:gridCol w="732778">
                  <a:extLst>
                    <a:ext uri="{9D8B030D-6E8A-4147-A177-3AD203B41FA5}">
                      <a16:colId xmlns:a16="http://schemas.microsoft.com/office/drawing/2014/main" val="4049336119"/>
                    </a:ext>
                  </a:extLst>
                </a:gridCol>
                <a:gridCol w="759264">
                  <a:extLst>
                    <a:ext uri="{9D8B030D-6E8A-4147-A177-3AD203B41FA5}">
                      <a16:colId xmlns:a16="http://schemas.microsoft.com/office/drawing/2014/main" val="2953904305"/>
                    </a:ext>
                  </a:extLst>
                </a:gridCol>
                <a:gridCol w="1183039">
                  <a:extLst>
                    <a:ext uri="{9D8B030D-6E8A-4147-A177-3AD203B41FA5}">
                      <a16:colId xmlns:a16="http://schemas.microsoft.com/office/drawing/2014/main" val="1042143359"/>
                    </a:ext>
                  </a:extLst>
                </a:gridCol>
                <a:gridCol w="1183039">
                  <a:extLst>
                    <a:ext uri="{9D8B030D-6E8A-4147-A177-3AD203B41FA5}">
                      <a16:colId xmlns:a16="http://schemas.microsoft.com/office/drawing/2014/main" val="2064323667"/>
                    </a:ext>
                  </a:extLst>
                </a:gridCol>
                <a:gridCol w="1183039">
                  <a:extLst>
                    <a:ext uri="{9D8B030D-6E8A-4147-A177-3AD203B41FA5}">
                      <a16:colId xmlns:a16="http://schemas.microsoft.com/office/drawing/2014/main" val="20571476"/>
                    </a:ext>
                  </a:extLst>
                </a:gridCol>
                <a:gridCol w="929951">
                  <a:extLst>
                    <a:ext uri="{9D8B030D-6E8A-4147-A177-3AD203B41FA5}">
                      <a16:colId xmlns:a16="http://schemas.microsoft.com/office/drawing/2014/main" val="28502797"/>
                    </a:ext>
                  </a:extLst>
                </a:gridCol>
              </a:tblGrid>
              <a:tr h="202363">
                <a:tc gridSpan="1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 Energisa TO 2ª e 3ª Tranche  - LPT AmL - Lote 1 - Erro 5%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776083"/>
                  </a:ext>
                </a:extLst>
              </a:tr>
              <a:tr h="387129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Lote</a:t>
                      </a:r>
                    </a:p>
                  </a:txBody>
                  <a:tcPr marL="8798" marR="8798" marT="8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ODI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Municípios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SIGFI 45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SIGFI 60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SIGFI 180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UC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Custo Estimado 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Dias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Equipe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Amostra Sugerida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161236"/>
                  </a:ext>
                </a:extLst>
              </a:tr>
              <a:tr h="202363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Amostras por nº de Estratos</a:t>
                      </a:r>
                    </a:p>
                  </a:txBody>
                  <a:tcPr marL="8798" marR="8798" marT="8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6</a:t>
                      </a:r>
                    </a:p>
                  </a:txBody>
                  <a:tcPr marL="8798" marR="8798" marT="8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17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9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0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16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17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 R$     85.440,00 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7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2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 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993609"/>
                  </a:ext>
                </a:extLst>
              </a:tr>
              <a:tr h="211161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5</a:t>
                      </a:r>
                    </a:p>
                  </a:txBody>
                  <a:tcPr marL="8798" marR="8798" marT="8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17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5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3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13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17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 R$     95.040,00 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8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2 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ESTIMADO </a:t>
                      </a:r>
                    </a:p>
                  </a:txBody>
                  <a:tcPr marL="8798" marR="8798" marT="8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473319"/>
                  </a:ext>
                </a:extLst>
              </a:tr>
              <a:tr h="20236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4</a:t>
                      </a:r>
                    </a:p>
                  </a:txBody>
                  <a:tcPr marL="8798" marR="8798" marT="8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17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8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16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0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17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 R$     75.840,00 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6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Segoe UI Light" panose="020B0502040204020203" pitchFamily="34" charset="0"/>
                        </a:rPr>
                        <a:t>2 </a:t>
                      </a:r>
                    </a:p>
                  </a:txBody>
                  <a:tcPr marL="8798" marR="8798" marT="879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Segoe UI Light" panose="020B0502040204020203" pitchFamily="34" charset="0"/>
                      </a:endParaRPr>
                    </a:p>
                  </a:txBody>
                  <a:tcPr marL="8798" marR="8798" marT="8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764238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D9C655B0-71F9-9F1C-4B1D-CCE0A530D671}"/>
              </a:ext>
            </a:extLst>
          </p:cNvPr>
          <p:cNvSpPr txBox="1"/>
          <p:nvPr/>
        </p:nvSpPr>
        <p:spPr>
          <a:xfrm>
            <a:off x="1044624" y="2715455"/>
            <a:ext cx="10486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pt-BR">
                <a:solidFill>
                  <a:schemeClr val="dk1"/>
                </a:solidFill>
                <a:latin typeface="Maven Pro"/>
              </a:rPr>
              <a:t>A estimativa de custo considerou os contratos ECM-016/2025, com investimento total de R$ 17.217.480,00 e 450 unidades atendidas, e ECM-023/2025, com investimento total de R$ 16.543.430,00 e 450 unidades atendidas. O melhor cenário considerado para a amostra sugerida é o Estrato 5, no qual, em nível técnico, estão contemplados os três tipos de SIGFI.</a:t>
            </a:r>
          </a:p>
        </p:txBody>
      </p:sp>
    </p:spTree>
    <p:extLst>
      <p:ext uri="{BB962C8B-B14F-4D97-AF65-F5344CB8AC3E}">
        <p14:creationId xmlns:p14="http://schemas.microsoft.com/office/powerpoint/2010/main" val="4049547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>
          <a:extLst>
            <a:ext uri="{FF2B5EF4-FFF2-40B4-BE49-F238E27FC236}">
              <a16:creationId xmlns:a16="http://schemas.microsoft.com/office/drawing/2014/main" id="{FDDE1B9C-C3AA-ECBA-4CC4-9FB7B704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42">
            <a:extLst>
              <a:ext uri="{FF2B5EF4-FFF2-40B4-BE49-F238E27FC236}">
                <a16:creationId xmlns:a16="http://schemas.microsoft.com/office/drawing/2014/main" id="{EC4008DB-5D0D-E705-ABA3-D20B46578B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915" y="205440"/>
            <a:ext cx="10785819" cy="413288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Mapa dos Estratos </a:t>
            </a:r>
            <a:endParaRPr sz="2400">
              <a:solidFill>
                <a:srgbClr val="0070C0"/>
              </a:solidFill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2A019DA-D08B-2C7C-D1C2-646A61FE44DF}"/>
              </a:ext>
            </a:extLst>
          </p:cNvPr>
          <p:cNvSpPr/>
          <p:nvPr/>
        </p:nvSpPr>
        <p:spPr>
          <a:xfrm>
            <a:off x="1134261" y="982214"/>
            <a:ext cx="2768179" cy="246638"/>
          </a:xfrm>
          <a:prstGeom prst="rect">
            <a:avLst/>
          </a:prstGeom>
          <a:solidFill>
            <a:srgbClr val="85858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41C137E-DB8C-7757-D035-1CEF82C0F29A}"/>
              </a:ext>
            </a:extLst>
          </p:cNvPr>
          <p:cNvSpPr/>
          <p:nvPr/>
        </p:nvSpPr>
        <p:spPr>
          <a:xfrm>
            <a:off x="4909103" y="1004348"/>
            <a:ext cx="2894377" cy="246638"/>
          </a:xfrm>
          <a:prstGeom prst="rect">
            <a:avLst/>
          </a:prstGeom>
          <a:solidFill>
            <a:srgbClr val="85858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43AB6AF4-2B23-F578-6F06-8D4AC28353BE}"/>
              </a:ext>
            </a:extLst>
          </p:cNvPr>
          <p:cNvSpPr/>
          <p:nvPr/>
        </p:nvSpPr>
        <p:spPr>
          <a:xfrm>
            <a:off x="8603294" y="1017285"/>
            <a:ext cx="2951999" cy="246638"/>
          </a:xfrm>
          <a:prstGeom prst="rect">
            <a:avLst/>
          </a:prstGeom>
          <a:solidFill>
            <a:srgbClr val="85858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364BE48-B9A0-12F3-4325-9FFC93FA77D2}"/>
              </a:ext>
            </a:extLst>
          </p:cNvPr>
          <p:cNvSpPr txBox="1"/>
          <p:nvPr/>
        </p:nvSpPr>
        <p:spPr>
          <a:xfrm>
            <a:off x="1109227" y="919598"/>
            <a:ext cx="2768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prstClr val="white"/>
                </a:solidFill>
                <a:latin typeface="Calibri" panose="020F0502020204030204"/>
              </a:rPr>
              <a:t>Estrato 06</a:t>
            </a:r>
            <a:endParaRPr lang="pt-BR" sz="1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B0A2E43-0096-FB69-D397-1312B03CF5B0}"/>
              </a:ext>
            </a:extLst>
          </p:cNvPr>
          <p:cNvSpPr txBox="1"/>
          <p:nvPr/>
        </p:nvSpPr>
        <p:spPr>
          <a:xfrm>
            <a:off x="4898291" y="943001"/>
            <a:ext cx="291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prstClr val="white"/>
                </a:solidFill>
                <a:latin typeface="Calibri" panose="020F0502020204030204"/>
              </a:rPr>
              <a:t>Estrato 05</a:t>
            </a:r>
            <a:endParaRPr lang="pt-BR" sz="1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B174DA1-0600-F1AB-724B-CDA23D26AF6E}"/>
              </a:ext>
            </a:extLst>
          </p:cNvPr>
          <p:cNvSpPr txBox="1"/>
          <p:nvPr/>
        </p:nvSpPr>
        <p:spPr>
          <a:xfrm>
            <a:off x="8556118" y="982214"/>
            <a:ext cx="2958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b="1">
                <a:solidFill>
                  <a:prstClr val="white"/>
                </a:solidFill>
                <a:latin typeface="Calibri" panose="020F0502020204030204"/>
              </a:rPr>
              <a:t>Estrato 04</a:t>
            </a:r>
            <a:endParaRPr lang="pt-BR" sz="18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36800FFE-3BB7-F3B5-5B7D-4AC72CE4FFD8}"/>
              </a:ext>
            </a:extLst>
          </p:cNvPr>
          <p:cNvSpPr>
            <a:spLocks noGrp="1"/>
          </p:cNvSpPr>
          <p:nvPr/>
        </p:nvSpPr>
        <p:spPr>
          <a:xfrm>
            <a:off x="1082039" y="576439"/>
            <a:ext cx="9226904" cy="3431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816000" tIns="48000" rIns="120000" bIns="4800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i="0" kern="1200" spc="300">
                <a:solidFill>
                  <a:schemeClr val="tx2"/>
                </a:solidFill>
                <a:latin typeface="Lato Black" panose="020F0A0202020403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Lato Light" panose="020F030202020403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>
              <a:buClr>
                <a:srgbClr val="000000"/>
              </a:buClr>
            </a:pPr>
            <a:r>
              <a:rPr lang="pt-BR" sz="1600" b="1" spc="400">
                <a:solidFill>
                  <a:srgbClr val="00094A"/>
                </a:solidFill>
                <a:latin typeface="Arial"/>
                <a:sym typeface="Arial"/>
              </a:rPr>
              <a:t>1ª, 2ª e 3ª amostra -Energisa Tocantins – 2ªe 3ª Tranche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E5691AD-5C94-9D48-96AC-5C4C78D75D34}"/>
              </a:ext>
            </a:extLst>
          </p:cNvPr>
          <p:cNvSpPr/>
          <p:nvPr/>
        </p:nvSpPr>
        <p:spPr>
          <a:xfrm>
            <a:off x="1070524" y="4531392"/>
            <a:ext cx="3502961" cy="1826643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D61B70-C57E-C9D5-A1DD-1D5F745C16E7}"/>
              </a:ext>
            </a:extLst>
          </p:cNvPr>
          <p:cNvSpPr txBox="1"/>
          <p:nvPr/>
        </p:nvSpPr>
        <p:spPr>
          <a:xfrm>
            <a:off x="1002750" y="4547341"/>
            <a:ext cx="3528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/>
              <a:t>Projetos: </a:t>
            </a:r>
            <a:r>
              <a:rPr lang="pt-BR" sz="1200"/>
              <a:t>17</a:t>
            </a:r>
          </a:p>
          <a:p>
            <a:r>
              <a:rPr lang="pt-BR" sz="1200" b="1"/>
              <a:t>Municípios a serem inspecionados: </a:t>
            </a:r>
            <a:r>
              <a:rPr lang="pt-BR" sz="1200"/>
              <a:t>9</a:t>
            </a:r>
          </a:p>
          <a:p>
            <a:r>
              <a:rPr lang="pt-BR" sz="1200" b="1"/>
              <a:t>Unidades Consumidoras (UC): </a:t>
            </a:r>
            <a:r>
              <a:rPr lang="pt-BR" sz="1200"/>
              <a:t>17</a:t>
            </a:r>
          </a:p>
          <a:p>
            <a:r>
              <a:rPr lang="pt-BR" sz="1200"/>
              <a:t>SIGFI 45 : 0</a:t>
            </a:r>
          </a:p>
          <a:p>
            <a:r>
              <a:rPr lang="pt-BR" sz="1200"/>
              <a:t>SIGFI 60 : 16</a:t>
            </a:r>
          </a:p>
          <a:p>
            <a:r>
              <a:rPr lang="pt-BR" sz="1200"/>
              <a:t>SIGFI 160: 1</a:t>
            </a:r>
          </a:p>
          <a:p>
            <a:r>
              <a:rPr lang="pt-BR" sz="1200" b="1"/>
              <a:t>Custo Estimado Total: </a:t>
            </a:r>
            <a:r>
              <a:rPr lang="pt-BR" sz="1200"/>
              <a:t>R$ 85.440,00</a:t>
            </a:r>
          </a:p>
          <a:p>
            <a:pPr algn="just"/>
            <a:r>
              <a:rPr lang="pt-BR" sz="1200"/>
              <a:t>Região com Aldeias indígenas e comunidades quilombolas.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98BACC5-8359-4EA1-8BF3-BD94DCC25E6C}"/>
              </a:ext>
            </a:extLst>
          </p:cNvPr>
          <p:cNvSpPr txBox="1"/>
          <p:nvPr/>
        </p:nvSpPr>
        <p:spPr>
          <a:xfrm>
            <a:off x="5109505" y="4691061"/>
            <a:ext cx="349378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/>
              <a:t>Projetos: </a:t>
            </a:r>
            <a:r>
              <a:rPr lang="pt-BR" sz="1200" dirty="0"/>
              <a:t>17</a:t>
            </a:r>
          </a:p>
          <a:p>
            <a:r>
              <a:rPr lang="pt-BR" sz="1200" b="1" dirty="0"/>
              <a:t>Municípios a serem inspecionados: </a:t>
            </a:r>
            <a:r>
              <a:rPr lang="pt-BR" sz="1200" dirty="0"/>
              <a:t>5</a:t>
            </a:r>
          </a:p>
          <a:p>
            <a:r>
              <a:rPr lang="pt-BR" sz="1200" b="1" dirty="0"/>
              <a:t>Unidades Consumidoras (UC): </a:t>
            </a:r>
            <a:r>
              <a:rPr lang="pt-BR" sz="1200" dirty="0"/>
              <a:t>17</a:t>
            </a:r>
          </a:p>
          <a:p>
            <a:r>
              <a:rPr lang="pt-BR" sz="1200" dirty="0"/>
              <a:t>SIGFI 45 : 3</a:t>
            </a:r>
          </a:p>
          <a:p>
            <a:r>
              <a:rPr lang="pt-BR" sz="1200" dirty="0"/>
              <a:t>SIGFI 60 : 13</a:t>
            </a:r>
          </a:p>
          <a:p>
            <a:r>
              <a:rPr lang="pt-BR" sz="1200" dirty="0"/>
              <a:t>SIGFI 160: 1</a:t>
            </a:r>
          </a:p>
          <a:p>
            <a:r>
              <a:rPr lang="pt-BR" sz="1200" b="1" dirty="0"/>
              <a:t>Custo Estimado Total: </a:t>
            </a:r>
            <a:r>
              <a:rPr lang="pt-BR" sz="1200" dirty="0"/>
              <a:t>R$ 95.040,00</a:t>
            </a:r>
          </a:p>
          <a:p>
            <a:pPr algn="just"/>
            <a:r>
              <a:rPr lang="pt-BR" sz="1200" dirty="0"/>
              <a:t>Região com Aldeias indígenas e comunidades quilombolas.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CE171D-9B04-5E01-B71A-48613AC5572B}"/>
              </a:ext>
            </a:extLst>
          </p:cNvPr>
          <p:cNvSpPr/>
          <p:nvPr/>
        </p:nvSpPr>
        <p:spPr>
          <a:xfrm>
            <a:off x="4678676" y="4531392"/>
            <a:ext cx="3528000" cy="1809764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B95DFDA-0A76-1151-32BB-40B1050F4243}"/>
              </a:ext>
            </a:extLst>
          </p:cNvPr>
          <p:cNvSpPr/>
          <p:nvPr/>
        </p:nvSpPr>
        <p:spPr>
          <a:xfrm>
            <a:off x="8318997" y="4531392"/>
            <a:ext cx="3432737" cy="1809764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B6BAB50-F0AD-14AD-066C-710816C292D1}"/>
              </a:ext>
            </a:extLst>
          </p:cNvPr>
          <p:cNvSpPr txBox="1"/>
          <p:nvPr/>
        </p:nvSpPr>
        <p:spPr>
          <a:xfrm>
            <a:off x="8327487" y="4559111"/>
            <a:ext cx="35036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/>
              <a:t>Projetos: </a:t>
            </a:r>
            <a:r>
              <a:rPr lang="pt-BR" sz="1200"/>
              <a:t>17</a:t>
            </a:r>
          </a:p>
          <a:p>
            <a:r>
              <a:rPr lang="pt-BR" sz="1200" b="1"/>
              <a:t>Municípios a serem inspecionados: </a:t>
            </a:r>
            <a:r>
              <a:rPr lang="pt-BR" sz="1200"/>
              <a:t>8</a:t>
            </a:r>
          </a:p>
          <a:p>
            <a:r>
              <a:rPr lang="pt-BR" sz="1200" b="1"/>
              <a:t>Unidades Consumidoras (UC): </a:t>
            </a:r>
            <a:r>
              <a:rPr lang="pt-BR" sz="1200"/>
              <a:t>17</a:t>
            </a:r>
          </a:p>
          <a:p>
            <a:r>
              <a:rPr lang="pt-BR" sz="1200"/>
              <a:t>SIGFI 45 : 1</a:t>
            </a:r>
          </a:p>
          <a:p>
            <a:r>
              <a:rPr lang="pt-BR" sz="1200"/>
              <a:t>SIGFI 60 : 16</a:t>
            </a:r>
          </a:p>
          <a:p>
            <a:r>
              <a:rPr lang="pt-BR" sz="1200"/>
              <a:t>SIGFI 160: 0</a:t>
            </a:r>
          </a:p>
          <a:p>
            <a:r>
              <a:rPr lang="pt-BR" sz="1200" b="1"/>
              <a:t>Custo Estimado Total: </a:t>
            </a:r>
            <a:r>
              <a:rPr lang="pt-BR" sz="1200"/>
              <a:t>R$ 75.840,00</a:t>
            </a:r>
          </a:p>
          <a:p>
            <a:pPr algn="just"/>
            <a:r>
              <a:rPr lang="pt-BR" sz="1200"/>
              <a:t>Região com Aldeias indígenas e comunidades quilombolas.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BE47C89-8F1F-49C7-E67B-40E0696C12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30" t="2386" r="-3312" b="1437"/>
          <a:stretch>
            <a:fillRect/>
          </a:stretch>
        </p:blipFill>
        <p:spPr>
          <a:xfrm>
            <a:off x="1458994" y="1250986"/>
            <a:ext cx="2118711" cy="324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EAEE0BA-8B46-3A1A-2B6F-81ADA28E0F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875" t="4905" r="13380" b="3274"/>
          <a:stretch>
            <a:fillRect/>
          </a:stretch>
        </p:blipFill>
        <p:spPr>
          <a:xfrm>
            <a:off x="5315312" y="1288929"/>
            <a:ext cx="2127527" cy="340774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CE5C089-E1DC-929B-36DC-B24890C0E0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907" t="4484"/>
          <a:stretch>
            <a:fillRect/>
          </a:stretch>
        </p:blipFill>
        <p:spPr>
          <a:xfrm>
            <a:off x="8986483" y="1354558"/>
            <a:ext cx="2097762" cy="313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087014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Annual Report by Slidesgo">
  <a:themeElements>
    <a:clrScheme name="Simple Light">
      <a:dk1>
        <a:srgbClr val="00094A"/>
      </a:dk1>
      <a:lt1>
        <a:srgbClr val="00649F"/>
      </a:lt1>
      <a:dk2>
        <a:srgbClr val="FEFEFE"/>
      </a:dk2>
      <a:lt2>
        <a:srgbClr val="63DBF5"/>
      </a:lt2>
      <a:accent1>
        <a:srgbClr val="006DF5"/>
      </a:accent1>
      <a:accent2>
        <a:srgbClr val="516CE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9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4407BA364D1654387CA771A5258DC59" ma:contentTypeVersion="19" ma:contentTypeDescription="Crie um novo documento." ma:contentTypeScope="" ma:versionID="92cc18c67c43f4e12db817e57ed01fc7">
  <xsd:schema xmlns:xsd="http://www.w3.org/2001/XMLSchema" xmlns:xs="http://www.w3.org/2001/XMLSchema" xmlns:p="http://schemas.microsoft.com/office/2006/metadata/properties" xmlns:ns2="9f987d89-c3c0-470e-aaa6-c2253135bda5" xmlns:ns3="a855df5c-95c7-4b88-a17d-2f8ebe25ba97" targetNamespace="http://schemas.microsoft.com/office/2006/metadata/properties" ma:root="true" ma:fieldsID="efd69c159a84eda46f17176311d179bf" ns2:_="" ns3:_="">
    <xsd:import namespace="9f987d89-c3c0-470e-aaa6-c2253135bda5"/>
    <xsd:import namespace="a855df5c-95c7-4b88-a17d-2f8ebe25ba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987d89-c3c0-470e-aaa6-c2253135bd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5835187a-a473-41ac-a4ea-1c7fdfdb569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hidden="true" ma:internalName="MediaServiceOCR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55df5c-95c7-4b88-a17d-2f8ebe25ba9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9fb366a-ae7d-44b6-9587-5dd5528438ee}" ma:internalName="TaxCatchAll" ma:readOnly="false" ma:showField="CatchAllData" ma:web="a855df5c-95c7-4b88-a17d-2f8ebe25ba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55df5c-95c7-4b88-a17d-2f8ebe25ba97" xsi:nil="true"/>
    <lcf76f155ced4ddcb4097134ff3c332f xmlns="9f987d89-c3c0-470e-aaa6-c2253135bda5">
      <Terms xmlns="http://schemas.microsoft.com/office/infopath/2007/PartnerControls"/>
    </lcf76f155ced4ddcb4097134ff3c332f>
    <SharedWithUsers xmlns="a855df5c-95c7-4b88-a17d-2f8ebe25ba97">
      <UserInfo>
        <DisplayName>Antonio Raad</DisplayName>
        <AccountId>15</AccountId>
        <AccountType/>
      </UserInfo>
      <UserInfo>
        <DisplayName>Juliana Tadeu</DisplayName>
        <AccountId>22</AccountId>
        <AccountType/>
      </UserInfo>
      <UserInfo>
        <DisplayName>Aurelio Pavão de Farias</DisplayName>
        <AccountId>98</AccountId>
        <AccountType/>
      </UserInfo>
      <UserInfo>
        <DisplayName>Thalisson Gloria de Almeida</DisplayName>
        <AccountId>29</AccountId>
        <AccountType/>
      </UserInfo>
      <UserInfo>
        <DisplayName>Paulo Gonçalves Cerqueira</DisplayName>
        <AccountId>28</AccountId>
        <AccountType/>
      </UserInfo>
      <UserInfo>
        <DisplayName>Julyana Borges</DisplayName>
        <AccountId>34</AccountId>
        <AccountType/>
      </UserInfo>
      <UserInfo>
        <DisplayName>Artur Araujo Rodrigues</DisplayName>
        <AccountId>10</AccountId>
        <AccountType/>
      </UserInfo>
      <UserInfo>
        <DisplayName>Eduardo Augusto Pereira</DisplayName>
        <AccountId>196</AccountId>
        <AccountType/>
      </UserInfo>
    </SharedWithUsers>
    <_Flow_SignoffStatus xmlns="9f987d89-c3c0-470e-aaa6-c2253135bda5" xsi:nil="true"/>
  </documentManagement>
</p:properties>
</file>

<file path=customXml/itemProps1.xml><?xml version="1.0" encoding="utf-8"?>
<ds:datastoreItem xmlns:ds="http://schemas.openxmlformats.org/officeDocument/2006/customXml" ds:itemID="{EEF445AC-2531-4935-9B13-FA2C74445D39}"/>
</file>

<file path=customXml/itemProps2.xml><?xml version="1.0" encoding="utf-8"?>
<ds:datastoreItem xmlns:ds="http://schemas.openxmlformats.org/officeDocument/2006/customXml" ds:itemID="{8155D008-1939-4CBD-AD03-D7DBDA712B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1D102F-F09F-4C51-B048-A5B78AC06E01}">
  <ds:schemaRefs>
    <ds:schemaRef ds:uri="9f987d89-c3c0-470e-aaa6-c2253135bda5"/>
    <ds:schemaRef ds:uri="a855df5c-95c7-4b88-a17d-2f8ebe25ba97"/>
    <ds:schemaRef ds:uri="dc84e032-8848-4840-9ccc-740c308db086"/>
    <ds:schemaRef ds:uri="de392d71-4e8d-43af-a838-e4f2314a048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1621</Words>
  <Application>Microsoft Office PowerPoint</Application>
  <PresentationFormat>Widescreen</PresentationFormat>
  <Paragraphs>417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1" baseType="lpstr">
      <vt:lpstr>Aptos Narrow</vt:lpstr>
      <vt:lpstr>Arial</vt:lpstr>
      <vt:lpstr>Calibri</vt:lpstr>
      <vt:lpstr>Lato Black</vt:lpstr>
      <vt:lpstr>Maven Pro</vt:lpstr>
      <vt:lpstr>Montserrat</vt:lpstr>
      <vt:lpstr>Segoe UI Light</vt:lpstr>
      <vt:lpstr>Wingdings</vt:lpstr>
      <vt:lpstr>Business Annual Report by Slidesgo</vt:lpstr>
      <vt:lpstr>Geração da Amostra</vt:lpstr>
      <vt:lpstr>Critérios de Dimensionamento</vt:lpstr>
      <vt:lpstr>Estimativa de Custo Total (R$)</vt:lpstr>
      <vt:lpstr>Mapa dos Estratos </vt:lpstr>
      <vt:lpstr>Estimativa de Custo Total (R$)</vt:lpstr>
      <vt:lpstr>Mapa dos Estratos </vt:lpstr>
      <vt:lpstr>Estimativa de Custo Total (R$)</vt:lpstr>
      <vt:lpstr>Mapa dos Estratos </vt:lpstr>
      <vt:lpstr>Estimativa de Custo Total (R$)</vt:lpstr>
      <vt:lpstr>Mapa dos Estratos </vt:lpstr>
      <vt:lpstr>Estimativa de Custo Total (R$)</vt:lpstr>
      <vt:lpstr>Mapa dos Estratos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Mauro Feydit Ferreira</dc:creator>
  <cp:lastModifiedBy>Lucimar Oliveira de Castro</cp:lastModifiedBy>
  <cp:revision>1</cp:revision>
  <dcterms:created xsi:type="dcterms:W3CDTF">2022-05-10T14:04:05Z</dcterms:created>
  <dcterms:modified xsi:type="dcterms:W3CDTF">2026-06-02T14:52:27Z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2023-03-16T19:29:17Z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87c4b32b-99bb-47a2-a1cd-9b7ad581fdbc</vt:lpwstr>
  </property>
  <property fmtid="{D5CDD505-2E9C-101B-9397-08002B2CF9AE}" pid="7" name="MSIP_Label_defa4170-0d19-0005-0004-bc88714345d2_ActionId">
    <vt:lpwstr>2dc7fe33-833d-4301-ae9f-097703ad52d2</vt:lpwstr>
  </property>
  <property fmtid="{D5CDD505-2E9C-101B-9397-08002B2CF9AE}" pid="8" name="MSIP_Label_defa4170-0d19-0005-0004-bc88714345d2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0x010100B4407BA364D1654387CA771A5258DC59</vt:lpwstr>
  </property>
</Properties>
</file>